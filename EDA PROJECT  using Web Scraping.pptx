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6" r:id="rId4"/>
    <p:sldId id="284" r:id="rId5"/>
    <p:sldId id="268" r:id="rId6"/>
    <p:sldId id="285" r:id="rId7"/>
    <p:sldId id="283" r:id="rId8"/>
    <p:sldId id="286" r:id="rId9"/>
    <p:sldId id="287" r:id="rId10"/>
    <p:sldId id="282" r:id="rId11"/>
    <p:sldId id="288" r:id="rId12"/>
    <p:sldId id="267" r:id="rId13"/>
    <p:sldId id="291" r:id="rId14"/>
    <p:sldId id="269" r:id="rId15"/>
    <p:sldId id="270" r:id="rId16"/>
    <p:sldId id="273" r:id="rId17"/>
    <p:sldId id="274" r:id="rId18"/>
    <p:sldId id="275" r:id="rId19"/>
    <p:sldId id="276" r:id="rId20"/>
    <p:sldId id="271" r:id="rId21"/>
    <p:sldId id="260" r:id="rId22"/>
    <p:sldId id="258" r:id="rId23"/>
    <p:sldId id="278" r:id="rId24"/>
    <p:sldId id="279" r:id="rId25"/>
    <p:sldId id="280" r:id="rId26"/>
    <p:sldId id="262" r:id="rId27"/>
    <p:sldId id="261" r:id="rId28"/>
    <p:sldId id="281" r:id="rId29"/>
    <p:sldId id="263" r:id="rId30"/>
    <p:sldId id="264" r:id="rId31"/>
    <p:sldId id="259" r:id="rId32"/>
  </p:sldIdLst>
  <p:sldSz cx="12192000" cy="6858000"/>
  <p:notesSz cx="6858000" cy="9144000"/>
  <p:embeddedFontLst>
    <p:embeddedFont>
      <p:font typeface="Lato Black" panose="020F0502020204030203" pitchFamily="34" charset="0"/>
      <p:bold r:id="rId34"/>
      <p:italic r:id="rId35"/>
      <p:boldItalic r:id="rId36"/>
    </p:embeddedFont>
    <p:embeddedFont>
      <p:font typeface="Libre Baskerville" panose="02000000000000000000" pitchFamily="2" charset="0"/>
      <p:regular r:id="rId37"/>
      <p:bold r:id="rId38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B85984B-BF5C-0614-DB79-3413477B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0BAD5B0-F965-C507-8E06-2746B2BA1C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F35BA98-DEAF-89B0-817B-CCDA1C04F2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132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546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16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732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290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514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43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432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428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C854230-C0C9-5F75-281B-6030C174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47B2DAC-2699-F4E8-C185-38DE26229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7890857-6850-6331-6B24-BE97E509F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44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F9E725-1B62-A633-942D-B8B8ADC3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89872B6-5276-5EF5-D46E-B413D1F9D3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FC29A23-1641-1A7A-FE7A-AB584B67D8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638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1C035E5-8D8A-7595-299C-BB7E78F9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7E30F42-664F-804D-EBFF-473217EFF5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E7BD83D-8C83-D737-1071-9FD4F6B8B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687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4795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701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82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90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481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885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8008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622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B83CF93-437B-22E6-10AD-15583012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2F462D4-0BF7-CB9C-6318-9D3623CCCA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535AF2E-D782-12F6-3409-980E56849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6030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B42B4A-43D8-1C09-A88C-D11BC4D6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B5EF2A3-AC9A-8783-B547-DE8AC751F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2E4D7D8-A7EF-3895-6737-D357A2A44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8372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B42B4A-43D8-1C09-A88C-D11BC4D6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B5EF2A3-AC9A-8783-B547-DE8AC751F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2E4D7D8-A7EF-3895-6737-D357A2A44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9822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623B19C-30D1-D304-B9DC-6B11331D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A23975B-3C0E-6523-FC1B-5E79EFFB8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D8FF6D0-5A97-F01B-C0F6-E82909CFE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3518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63B5B75-A125-C9A2-4CC5-A3830B30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C3E1937-8DF0-26B7-EF83-71BEF5750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367E4E5-0A71-6635-F34E-EA450110F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7245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localhost:8889/notebooks/python%20im/EDA/metro/Main_proj.ipynb?#Others-remains-same.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92365" y="-257828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B437AA-35CC-F23F-DDDA-315D1D012DED}"/>
              </a:ext>
            </a:extLst>
          </p:cNvPr>
          <p:cNvSpPr txBox="1"/>
          <p:nvPr/>
        </p:nvSpPr>
        <p:spPr>
          <a:xfrm>
            <a:off x="337131" y="4953446"/>
            <a:ext cx="63367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Presented by:</a:t>
            </a:r>
          </a:p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BHUKYA ARAVIND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4AAFA3-7E54-FC22-0390-64E5670BD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CF70C2-F1F4-9D8B-43AE-DB1F33569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3FC2A1B-2D67-3561-68B4-997477246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31" y="2505692"/>
            <a:ext cx="95807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Period-Wise Metrics Analysis on Quick Commerce Platforms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71558" y="1247247"/>
            <a:ext cx="10852504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commerce platforms like Blinkit and BigBasket deliver groceries and daily essentials within minutes, making them a key part of urban shopping today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prices, offers and stock availability on these platforms keep changing throughout the day based on demand, time and other factors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collects real-time data four times a day Morning, Afternoon, Evening and Night using automated web scraping to track these changes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analyze patterns in pricing, discounts, delivery charges and stock availability across different categories and time periods to find useful insights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115648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Introduction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0B91628-4605-2411-FCA2-97CD708A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4389865-9A5D-8915-E772-A436C88BDCF0}"/>
              </a:ext>
            </a:extLst>
          </p:cNvPr>
          <p:cNvSpPr txBox="1"/>
          <p:nvPr/>
        </p:nvSpPr>
        <p:spPr>
          <a:xfrm>
            <a:off x="447976" y="255255"/>
            <a:ext cx="6115648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Dataset Information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2AE08-56F0-5B50-753B-4382BFACF557}"/>
              </a:ext>
            </a:extLst>
          </p:cNvPr>
          <p:cNvSpPr txBox="1"/>
          <p:nvPr/>
        </p:nvSpPr>
        <p:spPr>
          <a:xfrm>
            <a:off x="103577" y="771527"/>
            <a:ext cx="10309375" cy="143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5440" lvl="1">
              <a:lnSpc>
                <a:spcPts val="4447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Dataset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: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Period-Wise Metrics Analysis on Quick Commerce Platforms</a:t>
            </a:r>
            <a:endParaRPr lang="en-US" sz="2000" dirty="0">
              <a:latin typeface="Times New Roman" panose="02020603050405020304" pitchFamily="18" charset="0"/>
              <a:ea typeface="Calibri (MS)"/>
              <a:cs typeface="Times New Roman" panose="02020603050405020304" pitchFamily="18" charset="0"/>
              <a:sym typeface="Calibri (MS)"/>
            </a:endParaRPr>
          </a:p>
          <a:p>
            <a:pPr marL="345440" lvl="1">
              <a:lnSpc>
                <a:spcPts val="4447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Source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Scraped from Blinkit and BigBasket using Selenium (4 times daily)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6EF57E-43D2-CDC2-276C-65D25E110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622753"/>
              </p:ext>
            </p:extLst>
          </p:nvPr>
        </p:nvGraphicFramePr>
        <p:xfrm>
          <a:off x="599440" y="2110105"/>
          <a:ext cx="8172527" cy="441618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03702">
                  <a:extLst>
                    <a:ext uri="{9D8B030D-6E8A-4147-A177-3AD203B41FA5}">
                      <a16:colId xmlns:a16="http://schemas.microsoft.com/office/drawing/2014/main" val="3414008289"/>
                    </a:ext>
                  </a:extLst>
                </a:gridCol>
                <a:gridCol w="2285992">
                  <a:extLst>
                    <a:ext uri="{9D8B030D-6E8A-4147-A177-3AD203B41FA5}">
                      <a16:colId xmlns:a16="http://schemas.microsoft.com/office/drawing/2014/main" val="2452514357"/>
                    </a:ext>
                  </a:extLst>
                </a:gridCol>
                <a:gridCol w="4182833">
                  <a:extLst>
                    <a:ext uri="{9D8B030D-6E8A-4147-A177-3AD203B41FA5}">
                      <a16:colId xmlns:a16="http://schemas.microsoft.com/office/drawing/2014/main" val="2975776416"/>
                    </a:ext>
                  </a:extLst>
                </a:gridCol>
              </a:tblGrid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Name</a:t>
                      </a:r>
                    </a:p>
                  </a:txBody>
                  <a:tcPr marL="85882" marR="85882" marT="42941" marB="4294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 marL="85882" marR="85882" marT="42941" marB="4294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5882" marR="85882" marT="42941" marB="42941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479575"/>
                  </a:ext>
                </a:extLst>
              </a:tr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product listed on the platform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3947713904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category (e.g., Vegetable, Milk, Eggs)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3583547870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mrp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Retail Price of the product in Rupees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4153279339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selling_price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price at which the product is sold in Rupees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2089060494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offer_percentage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percentage applied on the product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1299959400"/>
                  </a:ext>
                </a:extLst>
              </a:tr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delivery_time(MIN)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delivery time in minutes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3992648374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quantity or pack size (e.g., 500g, 1kg)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1642738636"/>
                  </a:ext>
                </a:extLst>
              </a:tr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scrape_date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on which the data was scraped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1056031321"/>
                  </a:ext>
                </a:extLst>
              </a:tr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scrape_time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at which the data was scraped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2216329363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in Hyderabad where data was collected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209095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00760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Raw Dataset Information</a:t>
            </a:r>
            <a:endParaRPr lang="en-IN" sz="4400" b="0" i="0" u="none" strike="noStrike" cap="none" dirty="0">
              <a:solidFill>
                <a:srgbClr val="FF000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581891" y="1376649"/>
            <a:ext cx="6792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1B15F2-299B-A164-384A-7E28A17CA169}"/>
              </a:ext>
            </a:extLst>
          </p:cNvPr>
          <p:cNvSpPr txBox="1"/>
          <p:nvPr/>
        </p:nvSpPr>
        <p:spPr>
          <a:xfrm>
            <a:off x="107575" y="5041403"/>
            <a:ext cx="70578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 :             2120 rows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 :            16 columns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62BBF9-92BD-0AC4-0A55-66B3C73D7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5" y="1898090"/>
            <a:ext cx="5238147" cy="27266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C1A4BF-6E11-E2C9-E8CE-D381C1FDE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722" y="1954326"/>
            <a:ext cx="6217896" cy="27266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1E3BE4-954F-CDBB-91E5-6C907EB26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3618" y="1954326"/>
            <a:ext cx="372022" cy="272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5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581891" y="1376649"/>
            <a:ext cx="6792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25342-C658-4AD0-6333-A3340C728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837" y="1247227"/>
            <a:ext cx="596265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581891" y="1376649"/>
            <a:ext cx="6792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E7E4F2-353E-68F7-4D2E-B2FF5990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1675045"/>
            <a:ext cx="6649378" cy="1505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30B320-DE22-EA13-58A3-FCBCA1D7B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32" y="4181118"/>
            <a:ext cx="6744641" cy="1095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B32F66-694A-280D-0918-7118763A5203}"/>
              </a:ext>
            </a:extLst>
          </p:cNvPr>
          <p:cNvSpPr txBox="1"/>
          <p:nvPr/>
        </p:nvSpPr>
        <p:spPr>
          <a:xfrm>
            <a:off x="371216" y="1049991"/>
            <a:ext cx="9996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Dropping Duplicate Columns and Changing Column Names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2071F-B9BF-667A-94B9-00FE1281FDC6}"/>
              </a:ext>
            </a:extLst>
          </p:cNvPr>
          <p:cNvSpPr txBox="1"/>
          <p:nvPr/>
        </p:nvSpPr>
        <p:spPr>
          <a:xfrm>
            <a:off x="581891" y="3559247"/>
            <a:ext cx="4957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Dropping columns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C3FC35-82BC-C1A3-CB09-8111E2D70107}"/>
              </a:ext>
            </a:extLst>
          </p:cNvPr>
          <p:cNvSpPr txBox="1"/>
          <p:nvPr/>
        </p:nvSpPr>
        <p:spPr>
          <a:xfrm>
            <a:off x="581891" y="5467630"/>
            <a:ext cx="9552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raw dataset contained extra columns like Late_Night_Charges, Delivery_Charges(Handelling+Delivery+Late_Night_Charge)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Unnecessary and duplicate columns were removed, keeping only the 14 relevant Features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1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679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2. Duplicate Handling</a:t>
            </a:r>
            <a:endParaRPr lang="en-IN" sz="2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AD55D2-183D-47A3-052A-43B3A6A03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497000"/>
            <a:ext cx="11349318" cy="1509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1F2561-86DC-71E4-8EBE-16B9D24341E1}"/>
              </a:ext>
            </a:extLst>
          </p:cNvPr>
          <p:cNvSpPr txBox="1"/>
          <p:nvPr/>
        </p:nvSpPr>
        <p:spPr>
          <a:xfrm>
            <a:off x="304800" y="4531253"/>
            <a:ext cx="79480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1 duplicate row in the dataset i.e "Premier Mutton Curry Cut“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Beeramguda which was removed to ensure data accuracy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16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679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Handling Missing Values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24AC80-EF4C-C503-84F4-D7BD7ACD6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450" y="1790605"/>
            <a:ext cx="4272550" cy="4270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F00071-3B15-F284-CEF7-35E8834BB60B}"/>
              </a:ext>
            </a:extLst>
          </p:cNvPr>
          <p:cNvSpPr txBox="1"/>
          <p:nvPr/>
        </p:nvSpPr>
        <p:spPr>
          <a:xfrm>
            <a:off x="268942" y="2006048"/>
            <a:ext cx="75303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MRP, Selling Price and Offer Percentage missing values and “Out of Stock” text entries were replaced with 0.0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and Climate  missing values were filled with the most frequent value (mode) since these are categorical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Surge Charges and Delivery Charges  missing values and “Out of Stock” were filled with 0.0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Time with missing values records are remove for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Surge Feature was removed as it contains complete null values</a:t>
            </a:r>
          </a:p>
        </p:txBody>
      </p:sp>
    </p:spTree>
    <p:extLst>
      <p:ext uri="{BB962C8B-B14F-4D97-AF65-F5344CB8AC3E}">
        <p14:creationId xmlns:p14="http://schemas.microsoft.com/office/powerpoint/2010/main" val="363323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679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Type Casting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7C73AF-320A-214F-7064-80EBF732B12E}"/>
              </a:ext>
            </a:extLst>
          </p:cNvPr>
          <p:cNvSpPr txBox="1"/>
          <p:nvPr/>
        </p:nvSpPr>
        <p:spPr>
          <a:xfrm>
            <a:off x="523757" y="1823011"/>
            <a:ext cx="1122000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MRP was first converted to float and then to int to remove decimal points and keep it as a whole number price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Selling Price was converted to Float to allow decimal values for accurate price representation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Percentage contained text like “39% OFF” a regex pattern was used to extract only the numeric value and then converted to int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03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679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Outlier Detection &amp; Treatment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D6D1F-DFFD-9493-A9BA-4D5779ED7AEC}"/>
              </a:ext>
            </a:extLst>
          </p:cNvPr>
          <p:cNvSpPr txBox="1"/>
          <p:nvPr/>
        </p:nvSpPr>
        <p:spPr>
          <a:xfrm>
            <a:off x="427655" y="5109883"/>
            <a:ext cx="11459545" cy="15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in MRP Column but we are not Handling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MRP is a real price, those high-value items (₹800, ₹1000) are likely genuine premium products like Meat. Removing them would lead to loss of real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44440F-BCF6-2127-D411-5A54B08A2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585" y="1684512"/>
            <a:ext cx="7117427" cy="32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0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9345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Adding Few More Columns For Good Interpretation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34B07-66F3-A175-5016-DE317B41792B}"/>
              </a:ext>
            </a:extLst>
          </p:cNvPr>
          <p:cNvSpPr txBox="1"/>
          <p:nvPr/>
        </p:nvSpPr>
        <p:spPr>
          <a:xfrm>
            <a:off x="519952" y="2053843"/>
            <a:ext cx="1163651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column was created by checking MRP value if value is 0 means value False Otherwise True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Selling Price Range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created by grouping selling price into 6 bins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0-50, 51-100, 101-200, 201-300, 301-500 and 500 using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pd.cut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price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MRP Range was similarly created by grouping MRP into the same 6 price bins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easy comparison and visualization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8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62584D9-9FD1-1001-FC10-5EF83A0AD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A9E317F2-7D20-0EDA-F835-9EAB7CAA217A}"/>
              </a:ext>
            </a:extLst>
          </p:cNvPr>
          <p:cNvSpPr txBox="1"/>
          <p:nvPr/>
        </p:nvSpPr>
        <p:spPr>
          <a:xfrm>
            <a:off x="427656" y="416554"/>
            <a:ext cx="7730692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Understanding the Dataset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00B23-7120-1BA6-0B98-FE6232A4C7B8}"/>
              </a:ext>
            </a:extLst>
          </p:cNvPr>
          <p:cNvSpPr txBox="1"/>
          <p:nvPr/>
        </p:nvSpPr>
        <p:spPr>
          <a:xfrm>
            <a:off x="654423" y="1050533"/>
            <a:ext cx="1048870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 :             2098 rows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 :            18 columns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Columns :   5 (MRP, Selling Price, Offer %, Delivery Time, Delivery Charges)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Columns:  13 (Category, Platform, Period, Location, Climate etc.)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Covered:   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Vegetable, Milk, Fruit, Eggs, Chicken, Meat, Paneer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Covered:     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Blinkit and BigBasket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Periods:               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Morning, Afternoon, Evening, Night</a:t>
            </a:r>
          </a:p>
        </p:txBody>
      </p:sp>
    </p:spTree>
    <p:extLst>
      <p:ext uri="{BB962C8B-B14F-4D97-AF65-F5344CB8AC3E}">
        <p14:creationId xmlns:p14="http://schemas.microsoft.com/office/powerpoint/2010/main" val="356542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676D4CB-E68A-54C5-AEE7-18E713E1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BD446527-1161-65BB-2C90-5BF23311B342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F6D4A8-5DFE-F338-B514-CB79C1543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436" y="1257794"/>
            <a:ext cx="6653953" cy="530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4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2035D94-7CB2-D9B8-96C0-31EDFD7B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85D5016D-E11E-2685-805C-5CFC2E7656DB}"/>
              </a:ext>
            </a:extLst>
          </p:cNvPr>
          <p:cNvSpPr txBox="1"/>
          <p:nvPr/>
        </p:nvSpPr>
        <p:spPr>
          <a:xfrm>
            <a:off x="427656" y="2144966"/>
            <a:ext cx="6460032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scrapped data Blinkit share is 54.39 percent and Bigbasket share is 45.61 percent</a:t>
            </a:r>
            <a:r>
              <a:rPr lang="en-IN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2A48D8E3-D4F3-DE11-879F-3D9088674DF3}"/>
              </a:ext>
            </a:extLst>
          </p:cNvPr>
          <p:cNvSpPr txBox="1"/>
          <p:nvPr/>
        </p:nvSpPr>
        <p:spPr>
          <a:xfrm>
            <a:off x="427656" y="416554"/>
            <a:ext cx="7730692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EDA </a:t>
            </a: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Wingdings" panose="05000000000000000000" pitchFamily="2" charset="2"/>
              </a:rPr>
              <a:t> Univariate Analysis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78D2C3-07F2-0736-6EB8-834737C1AD7A}"/>
              </a:ext>
            </a:extLst>
          </p:cNvPr>
          <p:cNvSpPr txBox="1"/>
          <p:nvPr/>
        </p:nvSpPr>
        <p:spPr>
          <a:xfrm>
            <a:off x="674764" y="1336139"/>
            <a:ext cx="6884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Share in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78F04-1222-FD5B-9CCC-15AEEA956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805" y="1245042"/>
            <a:ext cx="4921195" cy="382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455337" y="286605"/>
            <a:ext cx="9241641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2800" b="0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MRP , Selling Price Range VS Count Of Product</a:t>
            </a:r>
            <a:endParaRPr sz="2800" b="0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B8663-CEBB-9ACA-B15C-13F00B7C2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108"/>
            <a:ext cx="12192000" cy="4167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F799DA-B93D-D636-42FD-36CCB537D4F5}"/>
              </a:ext>
            </a:extLst>
          </p:cNvPr>
          <p:cNvSpPr txBox="1"/>
          <p:nvPr/>
        </p:nvSpPr>
        <p:spPr>
          <a:xfrm>
            <a:off x="447304" y="5109882"/>
            <a:ext cx="1151906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plot 1 we can observe that 0-50 range price products count is nearly 800.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plot 2 0-50 range price products count has increase to above 1000 after applying discount. Others remains same.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¶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34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427656" y="327818"/>
            <a:ext cx="7730692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Lato Black"/>
              </a:rPr>
              <a:t>Category Percentage</a:t>
            </a:r>
            <a:endParaRPr sz="3200" b="0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018FF-863C-AD8E-457F-B9A38B96C603}"/>
              </a:ext>
            </a:extLst>
          </p:cNvPr>
          <p:cNvSpPr txBox="1"/>
          <p:nvPr/>
        </p:nvSpPr>
        <p:spPr>
          <a:xfrm>
            <a:off x="427655" y="2024310"/>
            <a:ext cx="632544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has highest share among all categories   with 33.94%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Meat has the lowest share at 5.05%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Eggs, Chicken, Panner and Meat  are less than 10%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A9BFB0-0661-C4E7-D858-048BD928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03" y="1118865"/>
            <a:ext cx="5191850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2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427656" y="335872"/>
            <a:ext cx="7730692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Delivery Time Count</a:t>
            </a:r>
            <a:endParaRPr sz="2800" b="0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018FF-863C-AD8E-457F-B9A38B96C603}"/>
              </a:ext>
            </a:extLst>
          </p:cNvPr>
          <p:cNvSpPr txBox="1"/>
          <p:nvPr/>
        </p:nvSpPr>
        <p:spPr>
          <a:xfrm>
            <a:off x="427656" y="1491204"/>
            <a:ext cx="518991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mins indicates product is out of stock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Delivery time is 5 Mins and Maximum delivery time is 25 mins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deliveries happen between 8 to 13 minutes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2705D3-7D29-3EA3-A63C-23728939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4437"/>
            <a:ext cx="5954781" cy="458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1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285009" y="343954"/>
            <a:ext cx="7730692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2800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Climate Conditions During Data Collection</a:t>
            </a:r>
            <a:endParaRPr sz="2800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018FF-863C-AD8E-457F-B9A38B96C603}"/>
              </a:ext>
            </a:extLst>
          </p:cNvPr>
          <p:cNvSpPr txBox="1"/>
          <p:nvPr/>
        </p:nvSpPr>
        <p:spPr>
          <a:xfrm>
            <a:off x="543910" y="4947965"/>
            <a:ext cx="66739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all 4 days most of time, CLEAR climate is present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14A7EE-16D0-5B80-470E-4221D5D74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530" y="1031415"/>
            <a:ext cx="7440706" cy="366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5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427656" y="416554"/>
            <a:ext cx="7730692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Lato Black"/>
              </a:rPr>
              <a:t>Stock Availability Count</a:t>
            </a:r>
            <a:endParaRPr sz="3200" b="0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018FF-863C-AD8E-457F-B9A38B96C603}"/>
              </a:ext>
            </a:extLst>
          </p:cNvPr>
          <p:cNvSpPr txBox="1"/>
          <p:nvPr/>
        </p:nvSpPr>
        <p:spPr>
          <a:xfrm>
            <a:off x="1181201" y="5638800"/>
            <a:ext cx="6420870" cy="877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all 4 days, most of the time Stock is Available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4F8D5-F90D-34C3-3BC4-F1C20B269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341" y="902801"/>
            <a:ext cx="6087035" cy="442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022E-14AF-A816-7991-11F839B13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10C6-0061-7304-F82E-729BFB52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53"/>
            <a:ext cx="10515600" cy="125057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EDA </a:t>
            </a:r>
            <a:r>
              <a:rPr lang="en-US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 Bivariate Analysis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07FCF5-D82B-576C-D389-FA9485B83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83" y="1748117"/>
            <a:ext cx="6096000" cy="5096429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percentage of Milk and Chicken is almost zero no discounts are applied on these categories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offer percentage of Paneer is around 5% very low discounts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offer percentage of Meat is around 15% moderate discounts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has an average offer of around 20% with range going up to 40%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 offer percentage ranges between 15% to 25% consistently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Eggs have the highest and most varied offer percentage with average around 35% and range going up to 57%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A881E-89E4-0085-FFFC-7B1B80A4A012}"/>
              </a:ext>
            </a:extLst>
          </p:cNvPr>
          <p:cNvSpPr txBox="1"/>
          <p:nvPr/>
        </p:nvSpPr>
        <p:spPr>
          <a:xfrm>
            <a:off x="374539" y="1026064"/>
            <a:ext cx="6172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wise Offer Percentage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DADC44-1649-DA96-700C-428FFE75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255" y="1318451"/>
            <a:ext cx="6172745" cy="470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06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61B3-F6E8-057B-DE6D-D7257A25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66379"/>
            <a:ext cx="10515600" cy="902701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accent6"/>
                </a:solidFill>
                <a:latin typeface="Times New Roman" panose="02020603050405020304" pitchFamily="18" charset="0"/>
                <a:ea typeface="Lato Black" panose="020F0502020204030203" pitchFamily="34" charset="0"/>
                <a:cs typeface="Times New Roman" panose="02020603050405020304" pitchFamily="18" charset="0"/>
              </a:rPr>
              <a:t>Relation between MRP &amp; Selling Price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84CC4-332A-0C9B-BD76-FCB52631D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941" y="4844232"/>
            <a:ext cx="11406380" cy="1551492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positive relationship  as MRP increases selling price also increases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 is strong with 98% correlation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products are clustered below ₹200 MRP  confirming most items are daily budget essentials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E2D71A-330D-BAFC-F980-F7C1C2F7E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080"/>
            <a:ext cx="10784541" cy="381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81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94448" y="51025"/>
            <a:ext cx="10165932" cy="96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wise Selling Price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25975-0B7A-BFF1-5B0E-B4A9102A0906}"/>
              </a:ext>
            </a:extLst>
          </p:cNvPr>
          <p:cNvSpPr txBox="1"/>
          <p:nvPr/>
        </p:nvSpPr>
        <p:spPr>
          <a:xfrm>
            <a:off x="394447" y="948690"/>
            <a:ext cx="63523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at ₹0 represent out of stock items with no selling price recorded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Paneer selling price falls between ₹80 to ₹150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Milk selling price mostly falls between ₹10 to ₹100, with a few premium variants between ₹250 to ₹350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Chicken selling price ranges between ₹150 to ₹350, with some premium cuts at ₹450 and one outlier near ₹800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selling price is mostly between ₹10 to ₹200, with some items between ₹200 to ₹250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Meat selling price is on the higher side, ranging between ₹500 to ₹650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Eggs selling price falls between ₹50 to ₹150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Fruits selling price ranges between ₹50 to ₹350, with one premium item near ₹650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4FA8E-2C63-9B36-3625-1ECD94E7F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793" y="707336"/>
            <a:ext cx="5319701" cy="43308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80237" y="113201"/>
            <a:ext cx="9750295" cy="105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Charges By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7F217-E8E7-1856-6B3C-ADDD080A83B1}"/>
              </a:ext>
            </a:extLst>
          </p:cNvPr>
          <p:cNvSpPr txBox="1"/>
          <p:nvPr/>
        </p:nvSpPr>
        <p:spPr>
          <a:xfrm>
            <a:off x="280237" y="1488453"/>
            <a:ext cx="65598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charges for Blinkit is around ₹28 slightly higher than BigBasket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charges for BigBasket is around ₹23 more affordable for customers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BigBasket applies late night delivery fees in some time slots, its overall average delivery charges are still lower than Blinkit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742BC7-C345-B7C2-48DA-80979D533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070" y="1163782"/>
            <a:ext cx="5351929" cy="405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20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98764" y="331738"/>
            <a:ext cx="10459912" cy="93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Wise Offer Percentage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B8F6E-1AD6-102E-C3A6-C9FD4A1EAB48}"/>
              </a:ext>
            </a:extLst>
          </p:cNvPr>
          <p:cNvSpPr txBox="1"/>
          <p:nvPr/>
        </p:nvSpPr>
        <p:spPr>
          <a:xfrm>
            <a:off x="498764" y="1266458"/>
            <a:ext cx="576349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Blinkit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percentage mostly lies between 0% to 20% majority of products have low discounts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density is around 0% and 10%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products have offers between 25% to 40% but with very low density 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Basket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percentage ranges widely from 0% to 80% 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density is around 10 to 30%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between 35% to 80%  with less density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8F808-C8FD-91E6-E0BA-3C945821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568" y="1266458"/>
            <a:ext cx="5412785" cy="424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74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04420" y="316399"/>
            <a:ext cx="9964051" cy="92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 Wise Average Delivery Charges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981CA-AD84-B258-09FB-72DCDC585DB4}"/>
              </a:ext>
            </a:extLst>
          </p:cNvPr>
          <p:cNvSpPr txBox="1"/>
          <p:nvPr/>
        </p:nvSpPr>
        <p:spPr>
          <a:xfrm>
            <a:off x="231700" y="1243762"/>
            <a:ext cx="711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charges are lowest in Afternoon at ₹23. Best time to order for cheaper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Morning charges are ₹24. slightly higher than afternoon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charges rise to ₹27. demand increases during evening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Night has the highest delivery charges at ₹29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clear pattern. Delivery charges increase from afternoon to night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4D250-2D46-9055-BFDA-2CF44FDAF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0" y="1243762"/>
            <a:ext cx="4746700" cy="45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462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3C32B16-B9C5-8E36-55BF-054F0B4A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377E625-B685-85CA-C68F-3F92A0C447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51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</a:rPr>
              <a:t>EDA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 Multivariate Analysis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F1347-DF02-AE77-D484-66E65BDE4A90}"/>
              </a:ext>
            </a:extLst>
          </p:cNvPr>
          <p:cNvSpPr txBox="1"/>
          <p:nvPr/>
        </p:nvSpPr>
        <p:spPr>
          <a:xfrm>
            <a:off x="440177" y="1986262"/>
            <a:ext cx="551028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KPHB Colony, Blinkit charges around ₹27 and BigBasket charges around ₹25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Madhapur, Blinkit has the highest charges at ₹32 while BigBasket is only ₹23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Beeramguda, both platforms have similar charges around ₹24 to ₹23</a:t>
            </a:r>
          </a:p>
          <a:p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A5C35-EBDE-92C4-565D-42174FF71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40" y="1095605"/>
            <a:ext cx="5801360" cy="5035113"/>
          </a:xfrm>
          <a:prstGeom prst="rect">
            <a:avLst/>
          </a:prstGeom>
        </p:spPr>
      </p:pic>
      <p:sp>
        <p:nvSpPr>
          <p:cNvPr id="8" name="Google Shape;110;p4">
            <a:extLst>
              <a:ext uri="{FF2B5EF4-FFF2-40B4-BE49-F238E27FC236}">
                <a16:creationId xmlns:a16="http://schemas.microsoft.com/office/drawing/2014/main" id="{4EF7AD76-1015-75C2-A3CB-EC5EDF471F5A}"/>
              </a:ext>
            </a:extLst>
          </p:cNvPr>
          <p:cNvSpPr txBox="1">
            <a:spLocks/>
          </p:cNvSpPr>
          <p:nvPr/>
        </p:nvSpPr>
        <p:spPr>
          <a:xfrm>
            <a:off x="0" y="893785"/>
            <a:ext cx="6664960" cy="1134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0000"/>
              </a:buClr>
              <a:buSzPts val="4400"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Wise Average Delivery Charges by Location </a:t>
            </a:r>
          </a:p>
        </p:txBody>
      </p:sp>
    </p:spTree>
    <p:extLst>
      <p:ext uri="{BB962C8B-B14F-4D97-AF65-F5344CB8AC3E}">
        <p14:creationId xmlns:p14="http://schemas.microsoft.com/office/powerpoint/2010/main" val="253267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76BCDAD-87AF-AB60-52FF-B73EA56F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901F01F-31F8-6992-8A5D-5E4A23BD6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0" y="0"/>
            <a:ext cx="998780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Wise Average Delivery Changes Vs Delivery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F2B21-BB0E-D3DE-757C-2C38D7EE5D34}"/>
              </a:ext>
            </a:extLst>
          </p:cNvPr>
          <p:cNvSpPr txBox="1"/>
          <p:nvPr/>
        </p:nvSpPr>
        <p:spPr>
          <a:xfrm>
            <a:off x="177470" y="1229436"/>
            <a:ext cx="694416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Blinkit starts at around ₹27 for 5 minute delivery and BigBasket starts at around ₹21 for 5 minute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delivery time between 10 to 15 minutes, Blinkit average charges are around ₹30 to ₹35 and BigBasket is around ₹23 to ₹26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delivery time between 20 to 25 minutes, both platforms show fluctuating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delivery time for Blinkit is around 25 minutes and for BigBasket is around 21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delivery time between 7 to 10 minutes, Blinkit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bigbasket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charges gradually increase and then slightly decrease after 10 minutes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CFF87-EBEC-5010-1EEF-C70958371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166" y="1452880"/>
            <a:ext cx="5373074" cy="473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92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76BCDAD-87AF-AB60-52FF-B73EA56F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901F01F-31F8-6992-8A5D-5E4A23BD6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12713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Offer Percentage Vs Avg Delivery Charges Vs Delivery Time with respective platform and category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397E5-6A1F-BAAD-D9D9-FDB97A2D6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1833"/>
            <a:ext cx="12192000" cy="450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14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68C67C3-86BA-0808-E1CE-28F32CB5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8CD76CA-6AB9-DBAB-CEA9-C5F5679AD5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 Wise Out of Stock Count with respective Category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D7AE6B-5253-4142-B5FD-1AD150357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787" y="1076960"/>
            <a:ext cx="5531213" cy="470408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0C5D40D3-564F-0767-B5EE-337B9FF91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756" y="941094"/>
            <a:ext cx="6213747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has the highest out of stock across all periods Afternoon alone accounts for 26% of all out of stock cases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Chicken goes out of stock heavily in Afternoon at 5.6% and drops to 0% in Evening restocking likely happens between Afternoon and Evening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 goes out of stock mostly in Afternoon at 3.6% and 0% in Evening similar restocking pattern as Chicken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Meat shows consistent out of stock across all periods  Morning 1.6%, Afternoon 3.2%, Evening 0.8% and Night 2.4%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Milk goes out of stock most at Night at 9.6%  highest night demand among all categories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Paneer highest out of stock is in Afternoon at 2.8% low overall compared to other categories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859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D35B484-8CD6-6A44-23C4-893B9BE9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A8D679E-C413-7881-ADF8-4C79B6AA52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47034E1-D63E-EB77-14EB-2712AE2D9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9109" y="1183126"/>
            <a:ext cx="11213782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analyzed price, offer, stock and delivery patterns of daily essential products across Blinkit and BigBasket at four different time periods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product data was effectively collected using Selenium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 four times daily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BigBasket provides better discounts and lower delivery charges across most categories while Blinkit takes slightly more time and charges more for delivery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Vegetables have the highest out of stock rate especially in Afternoon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is the best time to order across all categories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584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1944</TotalTime>
  <Words>1781</Words>
  <Application>Microsoft Office PowerPoint</Application>
  <PresentationFormat>Widescreen</PresentationFormat>
  <Paragraphs>214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Lato Black</vt:lpstr>
      <vt:lpstr>Libre Baskerville</vt:lpstr>
      <vt:lpstr>Wingdings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EDA  Bivariate Analysis</vt:lpstr>
      <vt:lpstr>Relation between MRP &amp; Selling Price</vt:lpstr>
      <vt:lpstr>Category wise Selling Price</vt:lpstr>
      <vt:lpstr>Average Delivery Charges By Platform</vt:lpstr>
      <vt:lpstr>Platform Wise Offer Percentage </vt:lpstr>
      <vt:lpstr>Period Wise Average Delivery Charges</vt:lpstr>
      <vt:lpstr>EDA  Multivariate Analysis</vt:lpstr>
      <vt:lpstr>Platform Wise Average Delivery Changes Vs Delivery Time</vt:lpstr>
      <vt:lpstr>Avg Offer Percentage Vs Avg Delivery Charges Vs Delivery Time with respective platform and category</vt:lpstr>
      <vt:lpstr>Period Wise Out of Stock Count with respective Category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aravindbhukya@outlook.com</cp:lastModifiedBy>
  <cp:revision>70</cp:revision>
  <dcterms:created xsi:type="dcterms:W3CDTF">2021-02-16T05:19:01Z</dcterms:created>
  <dcterms:modified xsi:type="dcterms:W3CDTF">2026-03-18T09:40:02Z</dcterms:modified>
</cp:coreProperties>
</file>