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66" r:id="rId4"/>
    <p:sldId id="289" r:id="rId5"/>
    <p:sldId id="267" r:id="rId6"/>
    <p:sldId id="284" r:id="rId7"/>
    <p:sldId id="268" r:id="rId8"/>
    <p:sldId id="285" r:id="rId9"/>
    <p:sldId id="283" r:id="rId10"/>
    <p:sldId id="286" r:id="rId11"/>
    <p:sldId id="287" r:id="rId12"/>
    <p:sldId id="282" r:id="rId13"/>
    <p:sldId id="288" r:id="rId14"/>
    <p:sldId id="291" r:id="rId15"/>
    <p:sldId id="269" r:id="rId16"/>
    <p:sldId id="270" r:id="rId17"/>
    <p:sldId id="273" r:id="rId18"/>
    <p:sldId id="274" r:id="rId19"/>
    <p:sldId id="275" r:id="rId20"/>
    <p:sldId id="276" r:id="rId21"/>
    <p:sldId id="271" r:id="rId22"/>
    <p:sldId id="260" r:id="rId23"/>
    <p:sldId id="258" r:id="rId24"/>
    <p:sldId id="278" r:id="rId25"/>
    <p:sldId id="279" r:id="rId26"/>
    <p:sldId id="280" r:id="rId27"/>
    <p:sldId id="262" r:id="rId28"/>
    <p:sldId id="261" r:id="rId29"/>
    <p:sldId id="281" r:id="rId30"/>
    <p:sldId id="263" r:id="rId31"/>
    <p:sldId id="264" r:id="rId32"/>
    <p:sldId id="259" r:id="rId33"/>
  </p:sldIdLst>
  <p:sldSz cx="12192000" cy="6858000"/>
  <p:notesSz cx="6858000" cy="9144000"/>
  <p:embeddedFontLst>
    <p:embeddedFont>
      <p:font typeface="Lato Black" panose="020F0502020204030203" pitchFamily="34" charset="0"/>
      <p:bold r:id="rId35"/>
      <p:italic r:id="rId36"/>
      <p:boldItalic r:id="rId37"/>
    </p:embeddedFont>
    <p:embeddedFont>
      <p:font typeface="Libre Baskerville" panose="02000000000000000000" pitchFamily="2" charset="0"/>
      <p:regular r:id="rId38"/>
      <p:bold r:id="rId39"/>
      <p: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5" roundtripDataSignature="AMtx7mhnFQsu0qTBRZ+C47HNp0tuHCNko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196" autoAdjust="0"/>
  </p:normalViewPr>
  <p:slideViewPr>
    <p:cSldViewPr snapToGrid="0">
      <p:cViewPr varScale="1">
        <p:scale>
          <a:sx n="82" d="100"/>
          <a:sy n="82" d="100"/>
        </p:scale>
        <p:origin x="7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5.fntdata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3.fntdata"/><Relationship Id="rId40" Type="http://schemas.openxmlformats.org/officeDocument/2006/relationships/font" Target="fonts/font6.fntdata"/><Relationship Id="rId45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2.fntdata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1.fntdata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4.fntdata"/><Relationship Id="rId46" Type="http://schemas.openxmlformats.org/officeDocument/2006/relationships/presProps" Target="presProps.xml"/><Relationship Id="rId20" Type="http://schemas.openxmlformats.org/officeDocument/2006/relationships/slide" Target="slides/slide1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6B85984B-BF5C-0614-DB79-3413477BE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30BAD5B0-F965-C507-8E06-2746B2BA1C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3F35BA98-DEAF-89B0-817B-CCDA1C04F24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21322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58858CC7-CCE6-029C-E0F8-B3A6064B7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4357E7AC-76CF-7D58-9778-F2ECDA07F3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9EFE9197-3995-B5D6-6BD3-10F1D5B2C7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32568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DC854230-C0C9-5F75-281B-6030C1749A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F47B2DAC-2699-F4E8-C185-38DE26229A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D7890857-6850-6331-6B24-BE97E509F6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97743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C750073B-C8DC-3C79-C311-09B0F8914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31FB12F1-9FBB-CF9B-6056-BE6EF2AB7A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5B34ECF7-57E0-175C-CFCA-77A8DAAC64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45463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C750073B-C8DC-3C79-C311-09B0F8914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31FB12F1-9FBB-CF9B-6056-BE6EF2AB7A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5B34ECF7-57E0-175C-CFCA-77A8DAAC64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4167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C750073B-C8DC-3C79-C311-09B0F8914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31FB12F1-9FBB-CF9B-6056-BE6EF2AB7A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5B34ECF7-57E0-175C-CFCA-77A8DAAC64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67325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C750073B-C8DC-3C79-C311-09B0F8914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31FB12F1-9FBB-CF9B-6056-BE6EF2AB7A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5B34ECF7-57E0-175C-CFCA-77A8DAAC64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82906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C750073B-C8DC-3C79-C311-09B0F8914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31FB12F1-9FBB-CF9B-6056-BE6EF2AB7A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5B34ECF7-57E0-175C-CFCA-77A8DAAC64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85140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C750073B-C8DC-3C79-C311-09B0F8914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31FB12F1-9FBB-CF9B-6056-BE6EF2AB7A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5B34ECF7-57E0-175C-CFCA-77A8DAAC64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1430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C750073B-C8DC-3C79-C311-09B0F8914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31FB12F1-9FBB-CF9B-6056-BE6EF2AB7A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5B34ECF7-57E0-175C-CFCA-77A8DAAC64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64328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C750073B-C8DC-3C79-C311-09B0F8914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31FB12F1-9FBB-CF9B-6056-BE6EF2AB7A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5B34ECF7-57E0-175C-CFCA-77A8DAAC64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142888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1FF9E725-1B62-A633-942D-B8B8ADC3F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A89872B6-5276-5EF5-D46E-B413D1F9D3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5FC29A23-1641-1A7A-FE7A-AB584B67D8E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763834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F1C035E5-8D8A-7595-299C-BB7E78F98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47E30F42-664F-804D-EBFF-473217EFF5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1E7BD83D-8C83-D737-1071-9FD4F6B8BA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868700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35B57A2A-CD7A-0498-D3EA-BB346810F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B34BB068-B638-BD60-E3B7-27AB656763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A6F39A0E-4E96-90B0-4370-CFF321E601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647957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35B57A2A-CD7A-0498-D3EA-BB346810F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B34BB068-B638-BD60-E3B7-27AB656763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A6F39A0E-4E96-90B0-4370-CFF321E601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070199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35B57A2A-CD7A-0498-D3EA-BB346810F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B34BB068-B638-BD60-E3B7-27AB656763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A6F39A0E-4E96-90B0-4370-CFF321E601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678264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35B57A2A-CD7A-0498-D3EA-BB346810F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B34BB068-B638-BD60-E3B7-27AB656763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A6F39A0E-4E96-90B0-4370-CFF321E601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239088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35B57A2A-CD7A-0498-D3EA-BB346810F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B34BB068-B638-BD60-E3B7-27AB656763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A6F39A0E-4E96-90B0-4370-CFF321E601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948135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088597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180081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562232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AB83CF93-437B-22E6-10AD-15583012B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F2F462D4-0BF7-CB9C-6318-9D3623CCCA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9535AF2E-D782-12F6-3409-980E568497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860300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0CB42B4A-43D8-1C09-A88C-D11BC4D6B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2B5EF2A3-AC9A-8783-B547-DE8AC751FAA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A2E4D7D8-A7EF-3895-6737-D357A2A442F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283724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0CB42B4A-43D8-1C09-A88C-D11BC4D6B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2B5EF2A3-AC9A-8783-B547-DE8AC751FAA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A2E4D7D8-A7EF-3895-6737-D357A2A442F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198226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D623B19C-30D1-D304-B9DC-6B11331DB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1A23975B-3C0E-6523-FC1B-5E79EFFB8D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6D8FF6D0-5A97-F01B-C0F6-E82909CFE1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935180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763B5B75-A125-C9A2-4CC5-A3830B305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CC3E1937-8DF0-26B7-EF83-71BEF57501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1367E4E5-0A71-6635-F34E-EA450110F7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172456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4" name="Google Shape;24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7" name="Google Shape;27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://localhost:8889/notebooks/python%20im/EDA/metro/Main_proj.ipynb?#Others-remains-same.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 b="58717"/>
          <a:stretch/>
        </p:blipFill>
        <p:spPr>
          <a:xfrm>
            <a:off x="1185" y="-237397"/>
            <a:ext cx="12190815" cy="276352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CB437AA-35CC-F23F-DDDA-315D1D012DED}"/>
              </a:ext>
            </a:extLst>
          </p:cNvPr>
          <p:cNvSpPr txBox="1"/>
          <p:nvPr/>
        </p:nvSpPr>
        <p:spPr>
          <a:xfrm>
            <a:off x="244765" y="4629354"/>
            <a:ext cx="610391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Canva Sans Bold"/>
                <a:cs typeface="Times New Roman" panose="02020603050405020304" pitchFamily="18" charset="0"/>
                <a:sym typeface="Canva Sans Bold"/>
              </a:rPr>
              <a:t>Presented by:</a:t>
            </a:r>
          </a:p>
          <a:p>
            <a:r>
              <a:rPr 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nva Sans Bold"/>
              </a:rPr>
              <a:t>BHUKYA  ARAVIND</a:t>
            </a:r>
          </a:p>
          <a:p>
            <a:r>
              <a:rPr lang="en-IN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Batch No: 474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E4AAFA3-7E54-FC22-0390-64E5670BDC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16CF70C2-F1F4-9D8B-43AE-DB1F33569D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963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83FC2A1B-2D67-3561-68B4-9974772467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5612" y="2705725"/>
            <a:ext cx="9580775" cy="144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4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 Time Period-Wise Metrics Analysis on Quick Commerce Platforms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/>
          <p:nvPr/>
        </p:nvSpPr>
        <p:spPr>
          <a:xfrm>
            <a:off x="571558" y="1247247"/>
            <a:ext cx="10852504" cy="4662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Quick commerce platforms like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Blinkit and BigBasket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deliver groceries and daily essentials within minutes, making them a key part of urban shopping today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prices, offers and stock availability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these platforms keep changing throughout the day based on demand, time and other factors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collects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data four times a day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Morning, Afternoon, Evening and Night using automated web scraping to track these changes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goal is to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patterns in pricing, discounts, delivery charges and stock availability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across different categories and time periods to find useful insights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427656" y="416554"/>
            <a:ext cx="6115648" cy="633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80000"/>
              </a:lnSpc>
              <a:buClr>
                <a:srgbClr val="FF0000"/>
              </a:buClr>
              <a:buSzPts val="3200"/>
            </a:pPr>
            <a:r>
              <a:rPr lang="en-IN" sz="4400" b="0" i="0" u="none" strike="noStrike" cap="none" dirty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Introduction</a:t>
            </a:r>
            <a:endParaRPr sz="2800" b="0" i="0" u="none" strike="noStrike" cap="none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E0B91628-4605-2411-FCA2-97CD708A44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>
            <a:extLst>
              <a:ext uri="{FF2B5EF4-FFF2-40B4-BE49-F238E27FC236}">
                <a16:creationId xmlns:a16="http://schemas.microsoft.com/office/drawing/2014/main" id="{E4389865-9A5D-8915-E772-A436C88BDCF0}"/>
              </a:ext>
            </a:extLst>
          </p:cNvPr>
          <p:cNvSpPr txBox="1"/>
          <p:nvPr/>
        </p:nvSpPr>
        <p:spPr>
          <a:xfrm>
            <a:off x="447976" y="255255"/>
            <a:ext cx="6115648" cy="633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80000"/>
              </a:lnSpc>
              <a:buClr>
                <a:srgbClr val="FF0000"/>
              </a:buClr>
              <a:buSzPts val="3200"/>
            </a:pPr>
            <a:r>
              <a:rPr lang="en-IN" sz="4400" b="0" i="0" u="none" strike="noStrike" cap="none" dirty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Dataset Information</a:t>
            </a:r>
            <a:endParaRPr sz="2800" b="0" i="0" u="none" strike="noStrike" cap="none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642AE08-56F0-5B50-753B-4382BFACF557}"/>
              </a:ext>
            </a:extLst>
          </p:cNvPr>
          <p:cNvSpPr txBox="1"/>
          <p:nvPr/>
        </p:nvSpPr>
        <p:spPr>
          <a:xfrm>
            <a:off x="103577" y="771527"/>
            <a:ext cx="10309375" cy="14362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5440" lvl="1">
              <a:lnSpc>
                <a:spcPts val="4447"/>
              </a:lnSpc>
            </a:pP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Calibri (MS) Bold"/>
                <a:cs typeface="Times New Roman" panose="02020603050405020304" pitchFamily="18" charset="0"/>
                <a:sym typeface="Calibri (MS) Bold"/>
              </a:rPr>
              <a:t>Dataset</a:t>
            </a:r>
            <a:r>
              <a:rPr lang="en-US" sz="2800" dirty="0">
                <a:solidFill>
                  <a:srgbClr val="C00000"/>
                </a:solidFill>
                <a:latin typeface="Times New Roman" panose="02020603050405020304" pitchFamily="18" charset="0"/>
                <a:ea typeface="Calibri (MS)"/>
                <a:cs typeface="Times New Roman" panose="02020603050405020304" pitchFamily="18" charset="0"/>
                <a:sym typeface="Calibri (MS)"/>
              </a:rPr>
              <a:t>:</a:t>
            </a:r>
            <a:r>
              <a:rPr lang="en-US" sz="2000" dirty="0">
                <a:solidFill>
                  <a:srgbClr val="C00000"/>
                </a:solidFill>
                <a:latin typeface="Times New Roman" panose="02020603050405020304" pitchFamily="18" charset="0"/>
                <a:ea typeface="Calibri (MS)"/>
                <a:cs typeface="Times New Roman" panose="02020603050405020304" pitchFamily="18" charset="0"/>
                <a:sym typeface="Calibri (MS)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Period-Wise Metrics Analysis on Quick Commerce Platforms</a:t>
            </a:r>
            <a:endParaRPr lang="en-US" sz="2000" dirty="0">
              <a:latin typeface="Times New Roman" panose="02020603050405020304" pitchFamily="18" charset="0"/>
              <a:ea typeface="Calibri (MS)"/>
              <a:cs typeface="Times New Roman" panose="02020603050405020304" pitchFamily="18" charset="0"/>
              <a:sym typeface="Calibri (MS)"/>
            </a:endParaRPr>
          </a:p>
          <a:p>
            <a:pPr marL="345440" lvl="1">
              <a:lnSpc>
                <a:spcPts val="4447"/>
              </a:lnSpc>
            </a:pP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Calibri (MS) Bold"/>
                <a:cs typeface="Times New Roman" panose="02020603050405020304" pitchFamily="18" charset="0"/>
                <a:sym typeface="Calibri (MS) Bold"/>
              </a:rPr>
              <a:t>Source</a:t>
            </a:r>
            <a:r>
              <a:rPr lang="en-US" sz="2800" dirty="0">
                <a:solidFill>
                  <a:srgbClr val="C00000"/>
                </a:solidFill>
                <a:latin typeface="Times New Roman" panose="02020603050405020304" pitchFamily="18" charset="0"/>
                <a:ea typeface="Calibri (MS)"/>
                <a:cs typeface="Times New Roman" panose="02020603050405020304" pitchFamily="18" charset="0"/>
                <a:sym typeface="Calibri (MS)"/>
              </a:rPr>
              <a:t>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Scraped from Blinkit and BigBasket using Selenium (4 times daily)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26EF57E-43D2-CDC2-276C-65D25E110B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4622753"/>
              </p:ext>
            </p:extLst>
          </p:nvPr>
        </p:nvGraphicFramePr>
        <p:xfrm>
          <a:off x="599440" y="2110105"/>
          <a:ext cx="8172527" cy="4416188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1703702">
                  <a:extLst>
                    <a:ext uri="{9D8B030D-6E8A-4147-A177-3AD203B41FA5}">
                      <a16:colId xmlns:a16="http://schemas.microsoft.com/office/drawing/2014/main" val="3414008289"/>
                    </a:ext>
                  </a:extLst>
                </a:gridCol>
                <a:gridCol w="2285992">
                  <a:extLst>
                    <a:ext uri="{9D8B030D-6E8A-4147-A177-3AD203B41FA5}">
                      <a16:colId xmlns:a16="http://schemas.microsoft.com/office/drawing/2014/main" val="2452514357"/>
                    </a:ext>
                  </a:extLst>
                </a:gridCol>
                <a:gridCol w="4182833">
                  <a:extLst>
                    <a:ext uri="{9D8B030D-6E8A-4147-A177-3AD203B41FA5}">
                      <a16:colId xmlns:a16="http://schemas.microsoft.com/office/drawing/2014/main" val="2975776416"/>
                    </a:ext>
                  </a:extLst>
                </a:gridCol>
              </a:tblGrid>
              <a:tr h="2862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Column Name</a:t>
                      </a:r>
                    </a:p>
                  </a:txBody>
                  <a:tcPr marL="85882" marR="85882" marT="42941" marB="42941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Type</a:t>
                      </a:r>
                    </a:p>
                  </a:txBody>
                  <a:tcPr marL="85882" marR="85882" marT="42941" marB="42941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marL="85882" marR="85882" marT="42941" marB="42941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2479575"/>
                  </a:ext>
                </a:extLst>
              </a:tr>
              <a:tr h="2862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 marL="85882" marR="85882" marT="42941" marB="429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Categorical</a:t>
                      </a:r>
                    </a:p>
                  </a:txBody>
                  <a:tcPr marL="85882" marR="85882" marT="42941" marB="429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 of the product listed on the platform</a:t>
                      </a:r>
                    </a:p>
                  </a:txBody>
                  <a:tcPr marL="85882" marR="85882" marT="42941" marB="42941" anchor="ctr"/>
                </a:tc>
                <a:extLst>
                  <a:ext uri="{0D108BD9-81ED-4DB2-BD59-A6C34878D82A}">
                    <a16:rowId xmlns:a16="http://schemas.microsoft.com/office/drawing/2014/main" val="3947713904"/>
                  </a:ext>
                </a:extLst>
              </a:tr>
              <a:tr h="4866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Category</a:t>
                      </a:r>
                    </a:p>
                  </a:txBody>
                  <a:tcPr marL="85882" marR="85882" marT="42941" marB="429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Categorical</a:t>
                      </a:r>
                    </a:p>
                  </a:txBody>
                  <a:tcPr marL="85882" marR="85882" marT="42941" marB="429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Product category (e.g., Vegetable, Milk, Eggs)</a:t>
                      </a:r>
                    </a:p>
                  </a:txBody>
                  <a:tcPr marL="85882" marR="85882" marT="42941" marB="42941" anchor="ctr"/>
                </a:tc>
                <a:extLst>
                  <a:ext uri="{0D108BD9-81ED-4DB2-BD59-A6C34878D82A}">
                    <a16:rowId xmlns:a16="http://schemas.microsoft.com/office/drawing/2014/main" val="3583547870"/>
                  </a:ext>
                </a:extLst>
              </a:tr>
              <a:tr h="4866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mrp</a:t>
                      </a:r>
                    </a:p>
                  </a:txBody>
                  <a:tcPr marL="85882" marR="85882" marT="42941" marB="429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Numerical</a:t>
                      </a:r>
                    </a:p>
                  </a:txBody>
                  <a:tcPr marL="85882" marR="85882" marT="42941" marB="429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Maximum Retail Price of the product in Rupees</a:t>
                      </a:r>
                    </a:p>
                  </a:txBody>
                  <a:tcPr marL="85882" marR="85882" marT="42941" marB="42941" anchor="ctr"/>
                </a:tc>
                <a:extLst>
                  <a:ext uri="{0D108BD9-81ED-4DB2-BD59-A6C34878D82A}">
                    <a16:rowId xmlns:a16="http://schemas.microsoft.com/office/drawing/2014/main" val="4153279339"/>
                  </a:ext>
                </a:extLst>
              </a:tr>
              <a:tr h="4866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selling_price</a:t>
                      </a:r>
                    </a:p>
                  </a:txBody>
                  <a:tcPr marL="85882" marR="85882" marT="42941" marB="429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Numerical</a:t>
                      </a:r>
                    </a:p>
                  </a:txBody>
                  <a:tcPr marL="85882" marR="85882" marT="42941" marB="429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Actual price at which the product is sold in Rupees</a:t>
                      </a:r>
                    </a:p>
                  </a:txBody>
                  <a:tcPr marL="85882" marR="85882" marT="42941" marB="42941" anchor="ctr"/>
                </a:tc>
                <a:extLst>
                  <a:ext uri="{0D108BD9-81ED-4DB2-BD59-A6C34878D82A}">
                    <a16:rowId xmlns:a16="http://schemas.microsoft.com/office/drawing/2014/main" val="2089060494"/>
                  </a:ext>
                </a:extLst>
              </a:tr>
              <a:tr h="4866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offer_percentage</a:t>
                      </a:r>
                    </a:p>
                  </a:txBody>
                  <a:tcPr marL="85882" marR="85882" marT="42941" marB="429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Numerical</a:t>
                      </a:r>
                    </a:p>
                  </a:txBody>
                  <a:tcPr marL="85882" marR="85882" marT="42941" marB="429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Discount percentage applied on the product</a:t>
                      </a:r>
                    </a:p>
                  </a:txBody>
                  <a:tcPr marL="85882" marR="85882" marT="42941" marB="42941" anchor="ctr"/>
                </a:tc>
                <a:extLst>
                  <a:ext uri="{0D108BD9-81ED-4DB2-BD59-A6C34878D82A}">
                    <a16:rowId xmlns:a16="http://schemas.microsoft.com/office/drawing/2014/main" val="1299959400"/>
                  </a:ext>
                </a:extLst>
              </a:tr>
              <a:tr h="2862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delivery_time(MIN)</a:t>
                      </a:r>
                    </a:p>
                  </a:txBody>
                  <a:tcPr marL="85882" marR="85882" marT="42941" marB="429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Numerical</a:t>
                      </a:r>
                    </a:p>
                  </a:txBody>
                  <a:tcPr marL="85882" marR="85882" marT="42941" marB="429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Estimated delivery time in minutes</a:t>
                      </a:r>
                    </a:p>
                  </a:txBody>
                  <a:tcPr marL="85882" marR="85882" marT="42941" marB="42941" anchor="ctr"/>
                </a:tc>
                <a:extLst>
                  <a:ext uri="{0D108BD9-81ED-4DB2-BD59-A6C34878D82A}">
                    <a16:rowId xmlns:a16="http://schemas.microsoft.com/office/drawing/2014/main" val="3992648374"/>
                  </a:ext>
                </a:extLst>
              </a:tr>
              <a:tr h="4866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quantity</a:t>
                      </a:r>
                    </a:p>
                  </a:txBody>
                  <a:tcPr marL="85882" marR="85882" marT="42941" marB="429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Categorical</a:t>
                      </a:r>
                    </a:p>
                  </a:txBody>
                  <a:tcPr marL="85882" marR="85882" marT="42941" marB="429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Product quantity or pack size (e.g., 500g, 1kg)</a:t>
                      </a:r>
                    </a:p>
                  </a:txBody>
                  <a:tcPr marL="85882" marR="85882" marT="42941" marB="42941" anchor="ctr"/>
                </a:tc>
                <a:extLst>
                  <a:ext uri="{0D108BD9-81ED-4DB2-BD59-A6C34878D82A}">
                    <a16:rowId xmlns:a16="http://schemas.microsoft.com/office/drawing/2014/main" val="1642738636"/>
                  </a:ext>
                </a:extLst>
              </a:tr>
              <a:tr h="2862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scrape_date</a:t>
                      </a:r>
                    </a:p>
                  </a:txBody>
                  <a:tcPr marL="85882" marR="85882" marT="42941" marB="429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Categorical</a:t>
                      </a:r>
                    </a:p>
                  </a:txBody>
                  <a:tcPr marL="85882" marR="85882" marT="42941" marB="429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Date on which the data was scraped</a:t>
                      </a:r>
                    </a:p>
                  </a:txBody>
                  <a:tcPr marL="85882" marR="85882" marT="42941" marB="42941" anchor="ctr"/>
                </a:tc>
                <a:extLst>
                  <a:ext uri="{0D108BD9-81ED-4DB2-BD59-A6C34878D82A}">
                    <a16:rowId xmlns:a16="http://schemas.microsoft.com/office/drawing/2014/main" val="1056031321"/>
                  </a:ext>
                </a:extLst>
              </a:tr>
              <a:tr h="2862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scrape_time</a:t>
                      </a:r>
                    </a:p>
                  </a:txBody>
                  <a:tcPr marL="85882" marR="85882" marT="42941" marB="429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Categorical</a:t>
                      </a:r>
                    </a:p>
                  </a:txBody>
                  <a:tcPr marL="85882" marR="85882" marT="42941" marB="429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Time at which the data was scraped</a:t>
                      </a:r>
                    </a:p>
                  </a:txBody>
                  <a:tcPr marL="85882" marR="85882" marT="42941" marB="42941" anchor="ctr"/>
                </a:tc>
                <a:extLst>
                  <a:ext uri="{0D108BD9-81ED-4DB2-BD59-A6C34878D82A}">
                    <a16:rowId xmlns:a16="http://schemas.microsoft.com/office/drawing/2014/main" val="2216329363"/>
                  </a:ext>
                </a:extLst>
              </a:tr>
              <a:tr h="4866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location</a:t>
                      </a:r>
                    </a:p>
                  </a:txBody>
                  <a:tcPr marL="85882" marR="85882" marT="42941" marB="429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Categorical</a:t>
                      </a:r>
                    </a:p>
                  </a:txBody>
                  <a:tcPr marL="85882" marR="85882" marT="42941" marB="429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Area in Hyderabad where data was collected</a:t>
                      </a:r>
                    </a:p>
                  </a:txBody>
                  <a:tcPr marL="85882" marR="85882" marT="42941" marB="42941" anchor="ctr"/>
                </a:tc>
                <a:extLst>
                  <a:ext uri="{0D108BD9-81ED-4DB2-BD59-A6C34878D82A}">
                    <a16:rowId xmlns:a16="http://schemas.microsoft.com/office/drawing/2014/main" val="2090952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773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D468817D-7117-321C-E93D-F49D3F8D4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6E703DB-74F2-1B49-AB50-8A17AE76D6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7044208"/>
              </p:ext>
            </p:extLst>
          </p:nvPr>
        </p:nvGraphicFramePr>
        <p:xfrm>
          <a:off x="1838959" y="1454061"/>
          <a:ext cx="7782560" cy="3626496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2001520">
                  <a:extLst>
                    <a:ext uri="{9D8B030D-6E8A-4147-A177-3AD203B41FA5}">
                      <a16:colId xmlns:a16="http://schemas.microsoft.com/office/drawing/2014/main" val="1940341221"/>
                    </a:ext>
                  </a:extLst>
                </a:gridCol>
                <a:gridCol w="2225040">
                  <a:extLst>
                    <a:ext uri="{9D8B030D-6E8A-4147-A177-3AD203B41FA5}">
                      <a16:colId xmlns:a16="http://schemas.microsoft.com/office/drawing/2014/main" val="44142971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4203990355"/>
                    </a:ext>
                  </a:extLst>
                </a:gridCol>
              </a:tblGrid>
              <a:tr h="2701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Column Name</a:t>
                      </a:r>
                    </a:p>
                  </a:txBody>
                  <a:tcPr marL="47642" marR="47642" marT="23821" marB="23821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Type</a:t>
                      </a:r>
                    </a:p>
                  </a:txBody>
                  <a:tcPr marL="47642" marR="47642" marT="23821" marB="23821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marL="47642" marR="47642" marT="23821" marB="23821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5106088"/>
                  </a:ext>
                </a:extLst>
              </a:tr>
              <a:tr h="4592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Delivery_Charges</a:t>
                      </a:r>
                    </a:p>
                  </a:txBody>
                  <a:tcPr marL="47642" marR="47642" marT="23821" marB="238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Numerical</a:t>
                      </a:r>
                    </a:p>
                  </a:txBody>
                  <a:tcPr marL="47642" marR="47642" marT="23821" marB="238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delivery charges including handling fee in Rupees</a:t>
                      </a:r>
                    </a:p>
                  </a:txBody>
                  <a:tcPr marL="47642" marR="47642" marT="23821" marB="23821" anchor="ctr"/>
                </a:tc>
                <a:extLst>
                  <a:ext uri="{0D108BD9-81ED-4DB2-BD59-A6C34878D82A}">
                    <a16:rowId xmlns:a16="http://schemas.microsoft.com/office/drawing/2014/main" val="810686523"/>
                  </a:ext>
                </a:extLst>
              </a:tr>
              <a:tr h="4592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Period</a:t>
                      </a:r>
                    </a:p>
                  </a:txBody>
                  <a:tcPr marL="47642" marR="47642" marT="23821" marB="238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Categorical</a:t>
                      </a:r>
                    </a:p>
                  </a:txBody>
                  <a:tcPr marL="47642" marR="47642" marT="23821" marB="238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Time period of scraping — Morning, Afternoon, Evening, Night</a:t>
                      </a:r>
                    </a:p>
                  </a:txBody>
                  <a:tcPr marL="47642" marR="47642" marT="23821" marB="23821" anchor="ctr"/>
                </a:tc>
                <a:extLst>
                  <a:ext uri="{0D108BD9-81ED-4DB2-BD59-A6C34878D82A}">
                    <a16:rowId xmlns:a16="http://schemas.microsoft.com/office/drawing/2014/main" val="1236546367"/>
                  </a:ext>
                </a:extLst>
              </a:tr>
              <a:tr h="4592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Climate</a:t>
                      </a:r>
                    </a:p>
                  </a:txBody>
                  <a:tcPr marL="47642" marR="47642" marT="23821" marB="238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Categorical</a:t>
                      </a:r>
                    </a:p>
                  </a:txBody>
                  <a:tcPr marL="47642" marR="47642" marT="23821" marB="238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Weather condition at time of scraping (Clear, Sunny)</a:t>
                      </a:r>
                    </a:p>
                  </a:txBody>
                  <a:tcPr marL="47642" marR="47642" marT="23821" marB="23821" anchor="ctr"/>
                </a:tc>
                <a:extLst>
                  <a:ext uri="{0D108BD9-81ED-4DB2-BD59-A6C34878D82A}">
                    <a16:rowId xmlns:a16="http://schemas.microsoft.com/office/drawing/2014/main" val="1348646889"/>
                  </a:ext>
                </a:extLst>
              </a:tr>
              <a:tr h="4592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Surge_charges</a:t>
                      </a:r>
                    </a:p>
                  </a:txBody>
                  <a:tcPr marL="47642" marR="47642" marT="23821" marB="238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Categorical</a:t>
                      </a:r>
                    </a:p>
                  </a:txBody>
                  <a:tcPr marL="47642" marR="47642" marT="23821" marB="238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Whether surge charges were applied (Yes/No)</a:t>
                      </a:r>
                    </a:p>
                  </a:txBody>
                  <a:tcPr marL="47642" marR="47642" marT="23821" marB="23821" anchor="ctr"/>
                </a:tc>
                <a:extLst>
                  <a:ext uri="{0D108BD9-81ED-4DB2-BD59-A6C34878D82A}">
                    <a16:rowId xmlns:a16="http://schemas.microsoft.com/office/drawing/2014/main" val="1133473058"/>
                  </a:ext>
                </a:extLst>
              </a:tr>
              <a:tr h="2701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Platform</a:t>
                      </a:r>
                    </a:p>
                  </a:txBody>
                  <a:tcPr marL="47642" marR="47642" marT="23821" marB="238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Categorical</a:t>
                      </a:r>
                    </a:p>
                  </a:txBody>
                  <a:tcPr marL="47642" marR="47642" marT="23821" marB="238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Platform name — Blinkit or BigBasket</a:t>
                      </a:r>
                    </a:p>
                  </a:txBody>
                  <a:tcPr marL="47642" marR="47642" marT="23821" marB="23821" anchor="ctr"/>
                </a:tc>
                <a:extLst>
                  <a:ext uri="{0D108BD9-81ED-4DB2-BD59-A6C34878D82A}">
                    <a16:rowId xmlns:a16="http://schemas.microsoft.com/office/drawing/2014/main" val="423378309"/>
                  </a:ext>
                </a:extLst>
              </a:tr>
              <a:tr h="4592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mrp_range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42" marR="47642" marT="23821" marB="238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Categorical</a:t>
                      </a:r>
                    </a:p>
                  </a:txBody>
                  <a:tcPr marL="47642" marR="47642" marT="23821" marB="238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MRP grouped into price ranges (e.g., 0-50, 51-100)</a:t>
                      </a:r>
                    </a:p>
                  </a:txBody>
                  <a:tcPr marL="47642" marR="47642" marT="23821" marB="23821" anchor="ctr"/>
                </a:tc>
                <a:extLst>
                  <a:ext uri="{0D108BD9-81ED-4DB2-BD59-A6C34878D82A}">
                    <a16:rowId xmlns:a16="http://schemas.microsoft.com/office/drawing/2014/main" val="615445673"/>
                  </a:ext>
                </a:extLst>
              </a:tr>
              <a:tr h="2701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sp_range</a:t>
                      </a:r>
                    </a:p>
                  </a:txBody>
                  <a:tcPr marL="47642" marR="47642" marT="23821" marB="238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Categorical</a:t>
                      </a:r>
                    </a:p>
                  </a:txBody>
                  <a:tcPr marL="47642" marR="47642" marT="23821" marB="238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Selling price grouped into price ranges</a:t>
                      </a:r>
                    </a:p>
                  </a:txBody>
                  <a:tcPr marL="47642" marR="47642" marT="23821" marB="23821" anchor="ctr"/>
                </a:tc>
                <a:extLst>
                  <a:ext uri="{0D108BD9-81ED-4DB2-BD59-A6C34878D82A}">
                    <a16:rowId xmlns:a16="http://schemas.microsoft.com/office/drawing/2014/main" val="2263012745"/>
                  </a:ext>
                </a:extLst>
              </a:tr>
              <a:tr h="4592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Stock</a:t>
                      </a:r>
                    </a:p>
                  </a:txBody>
                  <a:tcPr marL="47642" marR="47642" marT="23821" marB="238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Categorical</a:t>
                      </a:r>
                    </a:p>
                  </a:txBody>
                  <a:tcPr marL="47642" marR="47642" marT="23821" marB="238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Whether product is in stock — True or False</a:t>
                      </a:r>
                    </a:p>
                  </a:txBody>
                  <a:tcPr marL="47642" marR="47642" marT="23821" marB="23821" anchor="ctr"/>
                </a:tc>
                <a:extLst>
                  <a:ext uri="{0D108BD9-81ED-4DB2-BD59-A6C34878D82A}">
                    <a16:rowId xmlns:a16="http://schemas.microsoft.com/office/drawing/2014/main" val="3389935176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A6EF6AFD-D5E2-8643-B8C7-00D380AE45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5975" y="1454061"/>
            <a:ext cx="184731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65947E4-D928-65D5-C9F2-CE570B48DA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0474322"/>
              </p:ext>
            </p:extLst>
          </p:nvPr>
        </p:nvGraphicFramePr>
        <p:xfrm>
          <a:off x="497841" y="5069840"/>
          <a:ext cx="9123678" cy="5731395"/>
        </p:xfrm>
        <a:graphic>
          <a:graphicData uri="http://schemas.openxmlformats.org/drawingml/2006/table">
            <a:tbl>
              <a:tblPr/>
              <a:tblGrid>
                <a:gridCol w="3041226">
                  <a:extLst>
                    <a:ext uri="{9D8B030D-6E8A-4147-A177-3AD203B41FA5}">
                      <a16:colId xmlns:a16="http://schemas.microsoft.com/office/drawing/2014/main" val="2058296886"/>
                    </a:ext>
                  </a:extLst>
                </a:gridCol>
                <a:gridCol w="3041226">
                  <a:extLst>
                    <a:ext uri="{9D8B030D-6E8A-4147-A177-3AD203B41FA5}">
                      <a16:colId xmlns:a16="http://schemas.microsoft.com/office/drawing/2014/main" val="3915639799"/>
                    </a:ext>
                  </a:extLst>
                </a:gridCol>
                <a:gridCol w="3041226">
                  <a:extLst>
                    <a:ext uri="{9D8B030D-6E8A-4147-A177-3AD203B41FA5}">
                      <a16:colId xmlns:a16="http://schemas.microsoft.com/office/drawing/2014/main" val="2068019728"/>
                    </a:ext>
                  </a:extLst>
                </a:gridCol>
              </a:tblGrid>
              <a:tr h="195401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700" dirty="0"/>
                    </a:p>
                  </a:txBody>
                  <a:tcPr marL="47642" marR="47642" marT="23821" marB="238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700"/>
                    </a:p>
                  </a:txBody>
                  <a:tcPr marL="47642" marR="47642" marT="23821" marB="238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700"/>
                    </a:p>
                  </a:txBody>
                  <a:tcPr marL="47642" marR="47642" marT="23821" marB="238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2802668"/>
                  </a:ext>
                </a:extLst>
              </a:tr>
              <a:tr h="195401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700"/>
                    </a:p>
                  </a:txBody>
                  <a:tcPr marL="47642" marR="47642" marT="23821" marB="238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700"/>
                    </a:p>
                  </a:txBody>
                  <a:tcPr marL="47642" marR="47642" marT="23821" marB="238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700"/>
                    </a:p>
                  </a:txBody>
                  <a:tcPr marL="47642" marR="47642" marT="23821" marB="238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7847740"/>
                  </a:ext>
                </a:extLst>
              </a:tr>
              <a:tr h="3321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700"/>
                    </a:p>
                  </a:txBody>
                  <a:tcPr marL="47642" marR="47642" marT="23821" marB="238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700" dirty="0"/>
                    </a:p>
                  </a:txBody>
                  <a:tcPr marL="47642" marR="47642" marT="23821" marB="238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700"/>
                    </a:p>
                  </a:txBody>
                  <a:tcPr marL="47642" marR="47642" marT="23821" marB="238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7094673"/>
                  </a:ext>
                </a:extLst>
              </a:tr>
              <a:tr h="70957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700"/>
                    </a:p>
                  </a:txBody>
                  <a:tcPr marL="47642" marR="47642" marT="23821" marB="238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700" dirty="0"/>
                    </a:p>
                  </a:txBody>
                  <a:tcPr marL="47642" marR="47642" marT="23821" marB="238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700"/>
                    </a:p>
                  </a:txBody>
                  <a:tcPr marL="47642" marR="47642" marT="23821" marB="238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6809787"/>
                  </a:ext>
                </a:extLst>
              </a:tr>
              <a:tr h="3321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700" dirty="0"/>
                    </a:p>
                  </a:txBody>
                  <a:tcPr marL="47642" marR="47642" marT="23821" marB="238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700"/>
                    </a:p>
                  </a:txBody>
                  <a:tcPr marL="47642" marR="47642" marT="23821" marB="238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700" dirty="0"/>
                    </a:p>
                  </a:txBody>
                  <a:tcPr marL="47642" marR="47642" marT="23821" marB="238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1183511"/>
                  </a:ext>
                </a:extLst>
              </a:tr>
              <a:tr h="3321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700"/>
                    </a:p>
                  </a:txBody>
                  <a:tcPr marL="47642" marR="47642" marT="23821" marB="238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700"/>
                    </a:p>
                  </a:txBody>
                  <a:tcPr marL="47642" marR="47642" marT="23821" marB="238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700"/>
                    </a:p>
                  </a:txBody>
                  <a:tcPr marL="47642" marR="47642" marT="23821" marB="238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9704973"/>
                  </a:ext>
                </a:extLst>
              </a:tr>
              <a:tr h="195401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700"/>
                    </a:p>
                  </a:txBody>
                  <a:tcPr marL="47642" marR="47642" marT="23821" marB="238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700"/>
                    </a:p>
                  </a:txBody>
                  <a:tcPr marL="47642" marR="47642" marT="23821" marB="238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700"/>
                    </a:p>
                  </a:txBody>
                  <a:tcPr marL="47642" marR="47642" marT="23821" marB="238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1799803"/>
                  </a:ext>
                </a:extLst>
              </a:tr>
              <a:tr h="3321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700"/>
                    </a:p>
                  </a:txBody>
                  <a:tcPr marL="47642" marR="47642" marT="23821" marB="238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700"/>
                    </a:p>
                  </a:txBody>
                  <a:tcPr marL="47642" marR="47642" marT="23821" marB="238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700"/>
                    </a:p>
                  </a:txBody>
                  <a:tcPr marL="47642" marR="47642" marT="23821" marB="238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9151977"/>
                  </a:ext>
                </a:extLst>
              </a:tr>
              <a:tr h="195401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700"/>
                    </a:p>
                  </a:txBody>
                  <a:tcPr marL="47642" marR="47642" marT="23821" marB="238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700"/>
                    </a:p>
                  </a:txBody>
                  <a:tcPr marL="47642" marR="47642" marT="23821" marB="238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700"/>
                    </a:p>
                  </a:txBody>
                  <a:tcPr marL="47642" marR="47642" marT="23821" marB="238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1864308"/>
                  </a:ext>
                </a:extLst>
              </a:tr>
              <a:tr h="195401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700"/>
                    </a:p>
                  </a:txBody>
                  <a:tcPr marL="47642" marR="47642" marT="23821" marB="238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700"/>
                    </a:p>
                  </a:txBody>
                  <a:tcPr marL="47642" marR="47642" marT="23821" marB="238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700"/>
                    </a:p>
                  </a:txBody>
                  <a:tcPr marL="47642" marR="47642" marT="23821" marB="238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84468"/>
                  </a:ext>
                </a:extLst>
              </a:tr>
              <a:tr h="3321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700"/>
                    </a:p>
                  </a:txBody>
                  <a:tcPr marL="47642" marR="47642" marT="23821" marB="238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700"/>
                    </a:p>
                  </a:txBody>
                  <a:tcPr marL="47642" marR="47642" marT="23821" marB="238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700"/>
                    </a:p>
                  </a:txBody>
                  <a:tcPr marL="47642" marR="47642" marT="23821" marB="238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4788031"/>
                  </a:ext>
                </a:extLst>
              </a:tr>
              <a:tr h="3321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700"/>
                    </a:p>
                  </a:txBody>
                  <a:tcPr marL="47642" marR="47642" marT="23821" marB="238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700"/>
                    </a:p>
                  </a:txBody>
                  <a:tcPr marL="47642" marR="47642" marT="23821" marB="238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700"/>
                    </a:p>
                  </a:txBody>
                  <a:tcPr marL="47642" marR="47642" marT="23821" marB="238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5573783"/>
                  </a:ext>
                </a:extLst>
              </a:tr>
              <a:tr h="3321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700"/>
                    </a:p>
                  </a:txBody>
                  <a:tcPr marL="47642" marR="47642" marT="23821" marB="238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700"/>
                    </a:p>
                  </a:txBody>
                  <a:tcPr marL="47642" marR="47642" marT="23821" marB="238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700"/>
                    </a:p>
                  </a:txBody>
                  <a:tcPr marL="47642" marR="47642" marT="23821" marB="238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9098064"/>
                  </a:ext>
                </a:extLst>
              </a:tr>
              <a:tr h="3321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700"/>
                    </a:p>
                  </a:txBody>
                  <a:tcPr marL="47642" marR="47642" marT="23821" marB="238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700"/>
                    </a:p>
                  </a:txBody>
                  <a:tcPr marL="47642" marR="47642" marT="23821" marB="238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700"/>
                    </a:p>
                  </a:txBody>
                  <a:tcPr marL="47642" marR="47642" marT="23821" marB="238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0552781"/>
                  </a:ext>
                </a:extLst>
              </a:tr>
              <a:tr h="3321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700"/>
                    </a:p>
                  </a:txBody>
                  <a:tcPr marL="47642" marR="47642" marT="23821" marB="238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700"/>
                    </a:p>
                  </a:txBody>
                  <a:tcPr marL="47642" marR="47642" marT="23821" marB="238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700"/>
                    </a:p>
                  </a:txBody>
                  <a:tcPr marL="47642" marR="47642" marT="23821" marB="238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0520982"/>
                  </a:ext>
                </a:extLst>
              </a:tr>
              <a:tr h="195401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700"/>
                    </a:p>
                  </a:txBody>
                  <a:tcPr marL="47642" marR="47642" marT="23821" marB="238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700"/>
                    </a:p>
                  </a:txBody>
                  <a:tcPr marL="47642" marR="47642" marT="23821" marB="238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700"/>
                    </a:p>
                  </a:txBody>
                  <a:tcPr marL="47642" marR="47642" marT="23821" marB="238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9941626"/>
                  </a:ext>
                </a:extLst>
              </a:tr>
              <a:tr h="3321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700"/>
                    </a:p>
                  </a:txBody>
                  <a:tcPr marL="47642" marR="47642" marT="23821" marB="238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700"/>
                    </a:p>
                  </a:txBody>
                  <a:tcPr marL="47642" marR="47642" marT="23821" marB="238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700"/>
                    </a:p>
                  </a:txBody>
                  <a:tcPr marL="47642" marR="47642" marT="23821" marB="238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554652"/>
                  </a:ext>
                </a:extLst>
              </a:tr>
              <a:tr h="195401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700"/>
                    </a:p>
                  </a:txBody>
                  <a:tcPr marL="47642" marR="47642" marT="23821" marB="238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700"/>
                    </a:p>
                  </a:txBody>
                  <a:tcPr marL="47642" marR="47642" marT="23821" marB="238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700"/>
                    </a:p>
                  </a:txBody>
                  <a:tcPr marL="47642" marR="47642" marT="23821" marB="238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8323571"/>
                  </a:ext>
                </a:extLst>
              </a:tr>
              <a:tr h="3321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700"/>
                    </a:p>
                  </a:txBody>
                  <a:tcPr marL="47642" marR="47642" marT="23821" marB="238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700"/>
                    </a:p>
                  </a:txBody>
                  <a:tcPr marL="47642" marR="47642" marT="23821" marB="238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700" dirty="0"/>
                    </a:p>
                  </a:txBody>
                  <a:tcPr marL="47642" marR="47642" marT="23821" marB="238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6348883"/>
                  </a:ext>
                </a:extLst>
              </a:tr>
            </a:tbl>
          </a:graphicData>
        </a:graphic>
      </p:graphicFrame>
      <p:sp>
        <p:nvSpPr>
          <p:cNvPr id="7" name="Rectangle 2">
            <a:extLst>
              <a:ext uri="{FF2B5EF4-FFF2-40B4-BE49-F238E27FC236}">
                <a16:creationId xmlns:a16="http://schemas.microsoft.com/office/drawing/2014/main" id="{997BA962-47CB-E878-6695-4FCFD4C27F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5975" y="1592560"/>
            <a:ext cx="184731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20276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162584D9-9FD1-1001-FC10-5EF83A0AD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>
            <a:extLst>
              <a:ext uri="{FF2B5EF4-FFF2-40B4-BE49-F238E27FC236}">
                <a16:creationId xmlns:a16="http://schemas.microsoft.com/office/drawing/2014/main" id="{A9E317F2-7D20-0EDA-F835-9EAB7CAA217A}"/>
              </a:ext>
            </a:extLst>
          </p:cNvPr>
          <p:cNvSpPr txBox="1"/>
          <p:nvPr/>
        </p:nvSpPr>
        <p:spPr>
          <a:xfrm>
            <a:off x="427656" y="416554"/>
            <a:ext cx="7730692" cy="633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80000"/>
              </a:lnSpc>
              <a:buClr>
                <a:srgbClr val="FF0000"/>
              </a:buClr>
              <a:buSzPts val="3200"/>
            </a:pPr>
            <a:r>
              <a:rPr lang="en-IN" sz="4400" b="0" i="0" u="none" strike="noStrike" cap="none" dirty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Understanding the Dataset</a:t>
            </a:r>
            <a:endParaRPr sz="2800" b="0" i="0" u="none" strike="noStrike" cap="none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5E00B23-7120-1BA6-0B98-FE6232A4C7B8}"/>
              </a:ext>
            </a:extLst>
          </p:cNvPr>
          <p:cNvSpPr txBox="1"/>
          <p:nvPr/>
        </p:nvSpPr>
        <p:spPr>
          <a:xfrm>
            <a:off x="672352" y="1219200"/>
            <a:ext cx="10488707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Collection: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was scraped from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Blinkit and BigBasket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Selenium automation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Scraping was done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 times daily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Morning, Afternoon, Evening and Night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was collected from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locations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Hyderabad  KPHB Colony, Madhapur and Beeramguda</a:t>
            </a:r>
          </a:p>
          <a:p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Overview: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Records :            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2098 rows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Features :           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 columns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Numerical Columns :  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(MRP, Selling Price, Offer %, Delivery Time, Delivery Charges)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Categorical Columns: 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(Category, Platform, Period, Location, Climate etc.)</a:t>
            </a: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Categories Covered:      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Vegetable, Milk, Fruit, Eggs, Chicken, Meat, Paneer</a:t>
            </a: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Platforms Covered:        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Blinkit and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BigBasket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Periods:                  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Morning, Afternoon, Evening, Night</a:t>
            </a:r>
          </a:p>
          <a:p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0135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DBB807C4-13B8-4C27-F30B-4AAAFA9F2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>
            <a:extLst>
              <a:ext uri="{FF2B5EF4-FFF2-40B4-BE49-F238E27FC236}">
                <a16:creationId xmlns:a16="http://schemas.microsoft.com/office/drawing/2014/main" id="{34D92464-E583-18D4-C51E-C3EE5E8B93AD}"/>
              </a:ext>
            </a:extLst>
          </p:cNvPr>
          <p:cNvSpPr txBox="1"/>
          <p:nvPr/>
        </p:nvSpPr>
        <p:spPr>
          <a:xfrm>
            <a:off x="427655" y="416554"/>
            <a:ext cx="9500116" cy="633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80000"/>
              </a:lnSpc>
              <a:buClr>
                <a:srgbClr val="FF0000"/>
              </a:buClr>
              <a:buSzPts val="3200"/>
            </a:pPr>
            <a:r>
              <a:rPr lang="en-IN" sz="4400" b="0" i="0" u="none" strike="noStrike" cap="none" dirty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Data Cleaning &amp; Preparation</a:t>
            </a:r>
            <a:endParaRPr sz="2800" b="0" i="0" u="none" strike="noStrike" cap="none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FCA81B-C4A2-C9CE-3658-47F0F9A98A8C}"/>
              </a:ext>
            </a:extLst>
          </p:cNvPr>
          <p:cNvSpPr txBox="1"/>
          <p:nvPr/>
        </p:nvSpPr>
        <p:spPr>
          <a:xfrm>
            <a:off x="581891" y="1376649"/>
            <a:ext cx="67926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A1B15F2-299B-A164-384A-7E28A17CA169}"/>
              </a:ext>
            </a:extLst>
          </p:cNvPr>
          <p:cNvSpPr txBox="1"/>
          <p:nvPr/>
        </p:nvSpPr>
        <p:spPr>
          <a:xfrm>
            <a:off x="107575" y="5041403"/>
            <a:ext cx="705787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Raw data after scraped from quick commerce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762BBF9-92BD-0AC4-0A55-66B3C73D73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75" y="1898090"/>
            <a:ext cx="5238147" cy="272664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2C1A4BF-6E11-E2C9-E8CE-D381C1FDE0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5722" y="1954326"/>
            <a:ext cx="6217896" cy="272664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01E3BE4-954F-CDBB-91E5-6C907EB26B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63618" y="1954326"/>
            <a:ext cx="372022" cy="2726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7155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DBB807C4-13B8-4C27-F30B-4AAAFA9F2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>
            <a:extLst>
              <a:ext uri="{FF2B5EF4-FFF2-40B4-BE49-F238E27FC236}">
                <a16:creationId xmlns:a16="http://schemas.microsoft.com/office/drawing/2014/main" id="{34D92464-E583-18D4-C51E-C3EE5E8B93AD}"/>
              </a:ext>
            </a:extLst>
          </p:cNvPr>
          <p:cNvSpPr txBox="1"/>
          <p:nvPr/>
        </p:nvSpPr>
        <p:spPr>
          <a:xfrm>
            <a:off x="427655" y="416554"/>
            <a:ext cx="9500116" cy="633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80000"/>
              </a:lnSpc>
              <a:buClr>
                <a:srgbClr val="FF0000"/>
              </a:buClr>
              <a:buSzPts val="3200"/>
            </a:pPr>
            <a:r>
              <a:rPr lang="en-IN" sz="4400" b="0" i="0" u="none" strike="noStrike" cap="none" dirty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Data Cleaning &amp; Preparation</a:t>
            </a:r>
            <a:endParaRPr sz="2800" b="0" i="0" u="none" strike="noStrike" cap="none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FCA81B-C4A2-C9CE-3658-47F0F9A98A8C}"/>
              </a:ext>
            </a:extLst>
          </p:cNvPr>
          <p:cNvSpPr txBox="1"/>
          <p:nvPr/>
        </p:nvSpPr>
        <p:spPr>
          <a:xfrm>
            <a:off x="581891" y="1376649"/>
            <a:ext cx="67926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425342-C658-4AD0-6333-A3340C7289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6837" y="1247227"/>
            <a:ext cx="5962650" cy="472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639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DBB807C4-13B8-4C27-F30B-4AAAFA9F2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>
            <a:extLst>
              <a:ext uri="{FF2B5EF4-FFF2-40B4-BE49-F238E27FC236}">
                <a16:creationId xmlns:a16="http://schemas.microsoft.com/office/drawing/2014/main" id="{34D92464-E583-18D4-C51E-C3EE5E8B93AD}"/>
              </a:ext>
            </a:extLst>
          </p:cNvPr>
          <p:cNvSpPr txBox="1"/>
          <p:nvPr/>
        </p:nvSpPr>
        <p:spPr>
          <a:xfrm>
            <a:off x="427655" y="416554"/>
            <a:ext cx="9500116" cy="633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80000"/>
              </a:lnSpc>
              <a:buClr>
                <a:srgbClr val="FF0000"/>
              </a:buClr>
              <a:buSzPts val="3200"/>
            </a:pPr>
            <a:r>
              <a:rPr lang="en-IN" sz="4400" b="0" i="0" u="none" strike="noStrike" cap="none" dirty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Data Cleaning &amp; Preparation</a:t>
            </a:r>
            <a:endParaRPr sz="2800" b="0" i="0" u="none" strike="noStrike" cap="none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FCA81B-C4A2-C9CE-3658-47F0F9A98A8C}"/>
              </a:ext>
            </a:extLst>
          </p:cNvPr>
          <p:cNvSpPr txBox="1"/>
          <p:nvPr/>
        </p:nvSpPr>
        <p:spPr>
          <a:xfrm>
            <a:off x="581891" y="1376649"/>
            <a:ext cx="67926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7E7E4F2-353E-68F7-4D2E-B2FF5990F4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891" y="2010542"/>
            <a:ext cx="6649378" cy="150516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830B320-DE22-EA13-58A3-FCBCA1D7B3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7985" y="4710036"/>
            <a:ext cx="6744641" cy="109552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3B32F66-694A-280D-0918-7118763A5203}"/>
              </a:ext>
            </a:extLst>
          </p:cNvPr>
          <p:cNvSpPr txBox="1"/>
          <p:nvPr/>
        </p:nvSpPr>
        <p:spPr>
          <a:xfrm>
            <a:off x="371216" y="1049991"/>
            <a:ext cx="99964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Dropping Duplicate Columns and Changing Column Names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62071F-B9BF-667A-94B9-00FE1281FDC6}"/>
              </a:ext>
            </a:extLst>
          </p:cNvPr>
          <p:cNvSpPr txBox="1"/>
          <p:nvPr/>
        </p:nvSpPr>
        <p:spPr>
          <a:xfrm>
            <a:off x="581891" y="3841818"/>
            <a:ext cx="4957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Dropping columns</a:t>
            </a:r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119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DBB807C4-13B8-4C27-F30B-4AAAFA9F2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>
            <a:extLst>
              <a:ext uri="{FF2B5EF4-FFF2-40B4-BE49-F238E27FC236}">
                <a16:creationId xmlns:a16="http://schemas.microsoft.com/office/drawing/2014/main" id="{34D92464-E583-18D4-C51E-C3EE5E8B93AD}"/>
              </a:ext>
            </a:extLst>
          </p:cNvPr>
          <p:cNvSpPr txBox="1"/>
          <p:nvPr/>
        </p:nvSpPr>
        <p:spPr>
          <a:xfrm>
            <a:off x="427655" y="416554"/>
            <a:ext cx="9500116" cy="633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80000"/>
              </a:lnSpc>
              <a:buClr>
                <a:srgbClr val="FF0000"/>
              </a:buClr>
              <a:buSzPts val="3200"/>
            </a:pPr>
            <a:r>
              <a:rPr lang="en-IN" sz="4400" b="0" i="0" u="none" strike="noStrike" cap="none" dirty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Data Cleaning &amp; Preparation</a:t>
            </a:r>
            <a:endParaRPr sz="2800" b="0" i="0" u="none" strike="noStrike" cap="none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FCA81B-C4A2-C9CE-3658-47F0F9A98A8C}"/>
              </a:ext>
            </a:extLst>
          </p:cNvPr>
          <p:cNvSpPr txBox="1"/>
          <p:nvPr/>
        </p:nvSpPr>
        <p:spPr>
          <a:xfrm>
            <a:off x="427655" y="1050533"/>
            <a:ext cx="67926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2. Duplicate Handling</a:t>
            </a:r>
            <a:endParaRPr lang="en-IN" sz="2800" b="1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DAD55D2-183D-47A3-052A-43B3A6A033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2497000"/>
            <a:ext cx="11349318" cy="1509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164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DBB807C4-13B8-4C27-F30B-4AAAFA9F2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>
            <a:extLst>
              <a:ext uri="{FF2B5EF4-FFF2-40B4-BE49-F238E27FC236}">
                <a16:creationId xmlns:a16="http://schemas.microsoft.com/office/drawing/2014/main" id="{34D92464-E583-18D4-C51E-C3EE5E8B93AD}"/>
              </a:ext>
            </a:extLst>
          </p:cNvPr>
          <p:cNvSpPr txBox="1"/>
          <p:nvPr/>
        </p:nvSpPr>
        <p:spPr>
          <a:xfrm>
            <a:off x="427655" y="416554"/>
            <a:ext cx="9500116" cy="633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80000"/>
              </a:lnSpc>
              <a:buClr>
                <a:srgbClr val="FF0000"/>
              </a:buClr>
              <a:buSzPts val="3200"/>
            </a:pPr>
            <a:r>
              <a:rPr lang="en-IN" sz="4400" b="0" i="0" u="none" strike="noStrike" cap="none" dirty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Data Cleaning &amp; Preparation</a:t>
            </a:r>
            <a:endParaRPr sz="2800" b="0" i="0" u="none" strike="noStrike" cap="none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FCA81B-C4A2-C9CE-3658-47F0F9A98A8C}"/>
              </a:ext>
            </a:extLst>
          </p:cNvPr>
          <p:cNvSpPr txBox="1"/>
          <p:nvPr/>
        </p:nvSpPr>
        <p:spPr>
          <a:xfrm>
            <a:off x="427655" y="1050533"/>
            <a:ext cx="67926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Handling Missing Values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724AC80-EF4C-C503-84F4-D7BD7ACD6D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9450" y="1790605"/>
            <a:ext cx="4272550" cy="427048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113580E-7818-3BAC-145E-5ED2C969BF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655" y="1684512"/>
            <a:ext cx="7337559" cy="4850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234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DBB807C4-13B8-4C27-F30B-4AAAFA9F2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>
            <a:extLst>
              <a:ext uri="{FF2B5EF4-FFF2-40B4-BE49-F238E27FC236}">
                <a16:creationId xmlns:a16="http://schemas.microsoft.com/office/drawing/2014/main" id="{34D92464-E583-18D4-C51E-C3EE5E8B93AD}"/>
              </a:ext>
            </a:extLst>
          </p:cNvPr>
          <p:cNvSpPr txBox="1"/>
          <p:nvPr/>
        </p:nvSpPr>
        <p:spPr>
          <a:xfrm>
            <a:off x="427655" y="416554"/>
            <a:ext cx="9500116" cy="633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80000"/>
              </a:lnSpc>
              <a:buClr>
                <a:srgbClr val="FF0000"/>
              </a:buClr>
              <a:buSzPts val="3200"/>
            </a:pPr>
            <a:r>
              <a:rPr lang="en-IN" sz="4400" b="0" i="0" u="none" strike="noStrike" cap="none" dirty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Data Cleaning &amp; Preparation</a:t>
            </a:r>
            <a:endParaRPr sz="2800" b="0" i="0" u="none" strike="noStrike" cap="none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FCA81B-C4A2-C9CE-3658-47F0F9A98A8C}"/>
              </a:ext>
            </a:extLst>
          </p:cNvPr>
          <p:cNvSpPr txBox="1"/>
          <p:nvPr/>
        </p:nvSpPr>
        <p:spPr>
          <a:xfrm>
            <a:off x="427655" y="1050533"/>
            <a:ext cx="67926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Type Casting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1160FC1-1D74-ABB3-3D34-593C7BA756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655" y="1865288"/>
            <a:ext cx="7132573" cy="4194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038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DBB807C4-13B8-4C27-F30B-4AAAFA9F2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>
            <a:extLst>
              <a:ext uri="{FF2B5EF4-FFF2-40B4-BE49-F238E27FC236}">
                <a16:creationId xmlns:a16="http://schemas.microsoft.com/office/drawing/2014/main" id="{34D92464-E583-18D4-C51E-C3EE5E8B93AD}"/>
              </a:ext>
            </a:extLst>
          </p:cNvPr>
          <p:cNvSpPr txBox="1"/>
          <p:nvPr/>
        </p:nvSpPr>
        <p:spPr>
          <a:xfrm>
            <a:off x="427655" y="416554"/>
            <a:ext cx="9500116" cy="633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80000"/>
              </a:lnSpc>
              <a:buClr>
                <a:srgbClr val="FF0000"/>
              </a:buClr>
              <a:buSzPts val="3200"/>
            </a:pPr>
            <a:r>
              <a:rPr lang="en-IN" sz="4400" b="0" i="0" u="none" strike="noStrike" cap="none" dirty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Data Cleaning &amp; Preparation</a:t>
            </a:r>
            <a:endParaRPr sz="2800" b="0" i="0" u="none" strike="noStrike" cap="none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FCA81B-C4A2-C9CE-3658-47F0F9A98A8C}"/>
              </a:ext>
            </a:extLst>
          </p:cNvPr>
          <p:cNvSpPr txBox="1"/>
          <p:nvPr/>
        </p:nvSpPr>
        <p:spPr>
          <a:xfrm>
            <a:off x="427655" y="1050533"/>
            <a:ext cx="67926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Outlier Detection &amp; Treatment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ED6D1F-DFFD-9493-A9BA-4D5779ED7AEC}"/>
              </a:ext>
            </a:extLst>
          </p:cNvPr>
          <p:cNvSpPr txBox="1"/>
          <p:nvPr/>
        </p:nvSpPr>
        <p:spPr>
          <a:xfrm>
            <a:off x="427655" y="5109883"/>
            <a:ext cx="11459545" cy="15550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Outliers in MRP Column but we are not Handling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Because MRP is a real price, those high-value items (₹800, ₹1000) are likely genuine premium products like Meat. Removing them would lead to loss of real data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644440F-BCF6-2127-D411-5A54B08A2A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655" y="1774004"/>
            <a:ext cx="7117427" cy="3246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3506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DBB807C4-13B8-4C27-F30B-4AAAFA9F2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>
            <a:extLst>
              <a:ext uri="{FF2B5EF4-FFF2-40B4-BE49-F238E27FC236}">
                <a16:creationId xmlns:a16="http://schemas.microsoft.com/office/drawing/2014/main" id="{34D92464-E583-18D4-C51E-C3EE5E8B93AD}"/>
              </a:ext>
            </a:extLst>
          </p:cNvPr>
          <p:cNvSpPr txBox="1"/>
          <p:nvPr/>
        </p:nvSpPr>
        <p:spPr>
          <a:xfrm>
            <a:off x="427655" y="416554"/>
            <a:ext cx="9500116" cy="633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80000"/>
              </a:lnSpc>
              <a:buClr>
                <a:srgbClr val="FF0000"/>
              </a:buClr>
              <a:buSzPts val="3200"/>
            </a:pPr>
            <a:r>
              <a:rPr lang="en-IN" sz="4400" b="0" i="0" u="none" strike="noStrike" cap="none" dirty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Data Cleaning &amp; Preparation</a:t>
            </a:r>
            <a:endParaRPr sz="2800" b="0" i="0" u="none" strike="noStrike" cap="none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FCA81B-C4A2-C9CE-3658-47F0F9A98A8C}"/>
              </a:ext>
            </a:extLst>
          </p:cNvPr>
          <p:cNvSpPr txBox="1"/>
          <p:nvPr/>
        </p:nvSpPr>
        <p:spPr>
          <a:xfrm>
            <a:off x="427655" y="1050533"/>
            <a:ext cx="93458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Adding Few More Columns For Good Interpretation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3863186-DE05-4D26-EE5E-6AE5607CDC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655" y="2010542"/>
            <a:ext cx="9424820" cy="4031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2682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1676D4CB-E68A-54C5-AEE7-18E713E1EF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>
            <a:extLst>
              <a:ext uri="{FF2B5EF4-FFF2-40B4-BE49-F238E27FC236}">
                <a16:creationId xmlns:a16="http://schemas.microsoft.com/office/drawing/2014/main" id="{BD446527-1161-65BB-2C90-5BF23311B342}"/>
              </a:ext>
            </a:extLst>
          </p:cNvPr>
          <p:cNvSpPr txBox="1"/>
          <p:nvPr/>
        </p:nvSpPr>
        <p:spPr>
          <a:xfrm>
            <a:off x="427655" y="416554"/>
            <a:ext cx="9500116" cy="633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80000"/>
              </a:lnSpc>
              <a:buClr>
                <a:srgbClr val="FF0000"/>
              </a:buClr>
              <a:buSzPts val="3200"/>
            </a:pPr>
            <a:r>
              <a:rPr lang="en-IN" sz="4400" b="0" i="0" u="none" strike="noStrike" cap="none" dirty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Data Cleaning &amp; Preparation</a:t>
            </a:r>
            <a:endParaRPr sz="2800" b="0" i="0" u="none" strike="noStrike" cap="none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E08A5F-4273-7A85-F51D-3EB0866BA1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6502" y="1427050"/>
            <a:ext cx="5887272" cy="5134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6644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D2035D94-7CB2-D9B8-96C0-31EDFD7BB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>
            <a:extLst>
              <a:ext uri="{FF2B5EF4-FFF2-40B4-BE49-F238E27FC236}">
                <a16:creationId xmlns:a16="http://schemas.microsoft.com/office/drawing/2014/main" id="{85D5016D-E11E-2685-805C-5CFC2E7656DB}"/>
              </a:ext>
            </a:extLst>
          </p:cNvPr>
          <p:cNvSpPr txBox="1"/>
          <p:nvPr/>
        </p:nvSpPr>
        <p:spPr>
          <a:xfrm>
            <a:off x="427656" y="2144966"/>
            <a:ext cx="6460032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the scrapped data Blinkit share is 54.39 percent and Bigbasket share is 45.61 percent</a:t>
            </a:r>
            <a:r>
              <a:rPr lang="en-IN" sz="2400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05" name="Google Shape;105;p3">
            <a:extLst>
              <a:ext uri="{FF2B5EF4-FFF2-40B4-BE49-F238E27FC236}">
                <a16:creationId xmlns:a16="http://schemas.microsoft.com/office/drawing/2014/main" id="{2A48D8E3-D4F3-DE11-879F-3D9088674DF3}"/>
              </a:ext>
            </a:extLst>
          </p:cNvPr>
          <p:cNvSpPr txBox="1"/>
          <p:nvPr/>
        </p:nvSpPr>
        <p:spPr>
          <a:xfrm>
            <a:off x="427656" y="416554"/>
            <a:ext cx="7730692" cy="633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80000"/>
              </a:lnSpc>
              <a:buClr>
                <a:srgbClr val="FF0000"/>
              </a:buClr>
              <a:buSzPts val="3200"/>
            </a:pPr>
            <a:r>
              <a:rPr lang="en-IN" sz="4400" b="0" i="0" u="none" strike="noStrike" cap="none" dirty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EDA </a:t>
            </a:r>
            <a:r>
              <a:rPr lang="en-IN" sz="4400" b="0" i="0" u="none" strike="noStrike" cap="none" dirty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Wingdings" panose="05000000000000000000" pitchFamily="2" charset="2"/>
              </a:rPr>
              <a:t> Univariate Analysis</a:t>
            </a:r>
            <a:endParaRPr sz="2800" b="0" i="0" u="none" strike="noStrike" cap="none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678D2C3-07F2-0736-6EB8-834737C1AD7A}"/>
              </a:ext>
            </a:extLst>
          </p:cNvPr>
          <p:cNvSpPr txBox="1"/>
          <p:nvPr/>
        </p:nvSpPr>
        <p:spPr>
          <a:xfrm>
            <a:off x="674764" y="1336139"/>
            <a:ext cx="68845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Platform Share in Dataset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378F04-1222-FD5B-9CCC-15AEEA956C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0805" y="1245042"/>
            <a:ext cx="4921195" cy="3828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690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34255D7F-8943-96C7-DFD7-13B229336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>
            <a:extLst>
              <a:ext uri="{FF2B5EF4-FFF2-40B4-BE49-F238E27FC236}">
                <a16:creationId xmlns:a16="http://schemas.microsoft.com/office/drawing/2014/main" id="{51FF574F-2640-C109-961D-2599AB644515}"/>
              </a:ext>
            </a:extLst>
          </p:cNvPr>
          <p:cNvSpPr txBox="1"/>
          <p:nvPr/>
        </p:nvSpPr>
        <p:spPr>
          <a:xfrm>
            <a:off x="455337" y="286605"/>
            <a:ext cx="9241641" cy="4370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80000"/>
              </a:lnSpc>
              <a:buClr>
                <a:srgbClr val="FF0000"/>
              </a:buClr>
              <a:buSzPts val="3200"/>
            </a:pPr>
            <a:r>
              <a:rPr lang="en-IN" sz="2800" b="0" i="0" u="none" strike="noStrike" cap="none" dirty="0">
                <a:solidFill>
                  <a:schemeClr val="accent6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MRP , Selling Price Range VS Count Of Product</a:t>
            </a:r>
            <a:endParaRPr sz="2800" b="0" i="0" u="none" strike="noStrike" cap="none" dirty="0">
              <a:solidFill>
                <a:schemeClr val="accent6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47B8663-CEBB-9ACA-B15C-13F00B7C2D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42108"/>
            <a:ext cx="12192000" cy="416777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5F799DA-B93D-D636-42FD-36CCB537D4F5}"/>
              </a:ext>
            </a:extLst>
          </p:cNvPr>
          <p:cNvSpPr txBox="1"/>
          <p:nvPr/>
        </p:nvSpPr>
        <p:spPr>
          <a:xfrm>
            <a:off x="447304" y="5109882"/>
            <a:ext cx="11519065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plot 1 we can observe that 0-50 range price products count is nearly 800.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plot 2 0-50 range price products count has increase to above 1000 after applying discount. Others remains same.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¶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3340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34255D7F-8943-96C7-DFD7-13B229336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>
            <a:extLst>
              <a:ext uri="{FF2B5EF4-FFF2-40B4-BE49-F238E27FC236}">
                <a16:creationId xmlns:a16="http://schemas.microsoft.com/office/drawing/2014/main" id="{51FF574F-2640-C109-961D-2599AB644515}"/>
              </a:ext>
            </a:extLst>
          </p:cNvPr>
          <p:cNvSpPr txBox="1"/>
          <p:nvPr/>
        </p:nvSpPr>
        <p:spPr>
          <a:xfrm>
            <a:off x="427656" y="327818"/>
            <a:ext cx="7730692" cy="4862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80000"/>
              </a:lnSpc>
              <a:buClr>
                <a:srgbClr val="FF0000"/>
              </a:buClr>
              <a:buSzPts val="3200"/>
            </a:pPr>
            <a:r>
              <a:rPr lang="en-IN" sz="3200" dirty="0">
                <a:solidFill>
                  <a:schemeClr val="accent6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Lato Black"/>
              </a:rPr>
              <a:t>Category Percentage</a:t>
            </a:r>
            <a:endParaRPr sz="3200" b="0" i="0" u="none" strike="noStrike" cap="none" dirty="0">
              <a:solidFill>
                <a:schemeClr val="accent6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6018FF-863C-AD8E-457F-B9A38B96C603}"/>
              </a:ext>
            </a:extLst>
          </p:cNvPr>
          <p:cNvSpPr txBox="1"/>
          <p:nvPr/>
        </p:nvSpPr>
        <p:spPr>
          <a:xfrm>
            <a:off x="427655" y="2024310"/>
            <a:ext cx="6325447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Vegetable has highest share among all categories   with 33.94%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Meat has the lowest share at 5.05%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Eggs, Chicken, Panner and Meat  are less than 10% 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FA9BFB0-0661-C4E7-D858-048BD9281C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3103" y="1118865"/>
            <a:ext cx="5191850" cy="4620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9129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34255D7F-8943-96C7-DFD7-13B229336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>
            <a:extLst>
              <a:ext uri="{FF2B5EF4-FFF2-40B4-BE49-F238E27FC236}">
                <a16:creationId xmlns:a16="http://schemas.microsoft.com/office/drawing/2014/main" id="{51FF574F-2640-C109-961D-2599AB644515}"/>
              </a:ext>
            </a:extLst>
          </p:cNvPr>
          <p:cNvSpPr txBox="1"/>
          <p:nvPr/>
        </p:nvSpPr>
        <p:spPr>
          <a:xfrm>
            <a:off x="427656" y="335872"/>
            <a:ext cx="7730692" cy="4370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80000"/>
              </a:lnSpc>
              <a:buClr>
                <a:srgbClr val="FF0000"/>
              </a:buClr>
              <a:buSzPts val="3200"/>
            </a:pPr>
            <a:r>
              <a:rPr lang="en-US" sz="2800" dirty="0">
                <a:solidFill>
                  <a:schemeClr val="accent6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Delivery Time Count</a:t>
            </a:r>
            <a:endParaRPr sz="2800" b="0" i="0" u="none" strike="noStrike" cap="none" dirty="0">
              <a:solidFill>
                <a:schemeClr val="accent6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6018FF-863C-AD8E-457F-B9A38B96C603}"/>
              </a:ext>
            </a:extLst>
          </p:cNvPr>
          <p:cNvSpPr txBox="1"/>
          <p:nvPr/>
        </p:nvSpPr>
        <p:spPr>
          <a:xfrm>
            <a:off x="427656" y="1491204"/>
            <a:ext cx="5189910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 mins indicates product is out of stock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Minimum Delivery time is 5 Mins and Maximum delivery time is 25 mins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deliveries happen between 8 to 13 minutes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92705D3-7D29-3EA3-A63C-2372893999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954437"/>
            <a:ext cx="5954781" cy="4583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6511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34255D7F-8943-96C7-DFD7-13B229336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>
            <a:extLst>
              <a:ext uri="{FF2B5EF4-FFF2-40B4-BE49-F238E27FC236}">
                <a16:creationId xmlns:a16="http://schemas.microsoft.com/office/drawing/2014/main" id="{51FF574F-2640-C109-961D-2599AB644515}"/>
              </a:ext>
            </a:extLst>
          </p:cNvPr>
          <p:cNvSpPr txBox="1"/>
          <p:nvPr/>
        </p:nvSpPr>
        <p:spPr>
          <a:xfrm>
            <a:off x="285009" y="343954"/>
            <a:ext cx="7730692" cy="4370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80000"/>
              </a:lnSpc>
              <a:buClr>
                <a:srgbClr val="FF0000"/>
              </a:buClr>
              <a:buSzPts val="3200"/>
            </a:pPr>
            <a:r>
              <a:rPr lang="en-IN" sz="2800" dirty="0">
                <a:solidFill>
                  <a:schemeClr val="accent6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Climate Conditions During Data Collection</a:t>
            </a:r>
            <a:endParaRPr sz="2800" dirty="0">
              <a:solidFill>
                <a:schemeClr val="accent6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6018FF-863C-AD8E-457F-B9A38B96C603}"/>
              </a:ext>
            </a:extLst>
          </p:cNvPr>
          <p:cNvSpPr txBox="1"/>
          <p:nvPr/>
        </p:nvSpPr>
        <p:spPr>
          <a:xfrm>
            <a:off x="543910" y="4947965"/>
            <a:ext cx="667393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all 4 days most of time, CLEAR climate is present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914A7EE-16D0-5B80-470E-4221D5D743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9530" y="1031415"/>
            <a:ext cx="7440706" cy="3666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2151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34255D7F-8943-96C7-DFD7-13B229336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>
            <a:extLst>
              <a:ext uri="{FF2B5EF4-FFF2-40B4-BE49-F238E27FC236}">
                <a16:creationId xmlns:a16="http://schemas.microsoft.com/office/drawing/2014/main" id="{51FF574F-2640-C109-961D-2599AB644515}"/>
              </a:ext>
            </a:extLst>
          </p:cNvPr>
          <p:cNvSpPr txBox="1"/>
          <p:nvPr/>
        </p:nvSpPr>
        <p:spPr>
          <a:xfrm>
            <a:off x="427656" y="416554"/>
            <a:ext cx="7730692" cy="4862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80000"/>
              </a:lnSpc>
              <a:buClr>
                <a:srgbClr val="FF0000"/>
              </a:buClr>
              <a:buSzPts val="3200"/>
            </a:pPr>
            <a:r>
              <a:rPr lang="en-IN" sz="3200" dirty="0">
                <a:solidFill>
                  <a:schemeClr val="accent6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Lato Black"/>
              </a:rPr>
              <a:t>Stock Availability Count</a:t>
            </a:r>
            <a:endParaRPr sz="3200" b="0" i="0" u="none" strike="noStrike" cap="none" dirty="0">
              <a:solidFill>
                <a:schemeClr val="accent6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6018FF-863C-AD8E-457F-B9A38B96C603}"/>
              </a:ext>
            </a:extLst>
          </p:cNvPr>
          <p:cNvSpPr txBox="1"/>
          <p:nvPr/>
        </p:nvSpPr>
        <p:spPr>
          <a:xfrm>
            <a:off x="1181201" y="5638800"/>
            <a:ext cx="6420870" cy="8779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all 4 days, most of the time Stock is Available</a:t>
            </a:r>
          </a:p>
          <a:p>
            <a:pPr>
              <a:lnSpc>
                <a:spcPct val="150000"/>
              </a:lnSpc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B4F8D5-F90D-34C3-3BC4-F1C20B2693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5341" y="902801"/>
            <a:ext cx="6087035" cy="4427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119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C022E-14AF-A816-7991-11F839B13A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010C6-0061-7304-F82E-729BFB520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3453"/>
            <a:ext cx="10515600" cy="1250571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EDA </a:t>
            </a:r>
            <a:r>
              <a:rPr lang="en-US" b="1" dirty="0">
                <a:solidFill>
                  <a:srgbClr val="FF000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  <a:sym typeface="Wingdings" panose="05000000000000000000" pitchFamily="2" charset="2"/>
              </a:rPr>
              <a:t> Bivariate Analysis</a:t>
            </a:r>
            <a:endParaRPr lang="en-IN" dirty="0"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C07FCF5-D82B-576C-D389-FA9485B833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683" y="1748117"/>
            <a:ext cx="6096000" cy="5096429"/>
          </a:xfrm>
        </p:spPr>
        <p:txBody>
          <a:bodyPr>
            <a:no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Offer percentage of Milk and Chicken is almost zero no discounts are applied on these categories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offer percentage of Paneer is around 5% very low discounts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offer percentage of Meat is around 15% moderate discounts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Vegetable has an average offer of around 20% with range going up to 40%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Fruit offer percentage ranges between 15% to 25% consistently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Eggs have the highest and most varied offer percentage with average around 35% and range going up to 57%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3A881E-89E4-0085-FFFC-7B1B80A4A012}"/>
              </a:ext>
            </a:extLst>
          </p:cNvPr>
          <p:cNvSpPr txBox="1"/>
          <p:nvPr/>
        </p:nvSpPr>
        <p:spPr>
          <a:xfrm>
            <a:off x="374539" y="1026064"/>
            <a:ext cx="61727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Category wise Offer Percentage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2DADC44-1649-DA96-700C-428FFE75C6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9255" y="1318451"/>
            <a:ext cx="6172745" cy="4709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2062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F61B3-F6E8-057B-DE6D-D7257A25E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941" y="66379"/>
            <a:ext cx="10515600" cy="902701"/>
          </a:xfrm>
        </p:spPr>
        <p:txBody>
          <a:bodyPr>
            <a:normAutofit/>
          </a:bodyPr>
          <a:lstStyle/>
          <a:p>
            <a:r>
              <a:rPr lang="en-IN" sz="3200" dirty="0">
                <a:solidFill>
                  <a:schemeClr val="accent6"/>
                </a:solidFill>
                <a:latin typeface="Times New Roman" panose="02020603050405020304" pitchFamily="18" charset="0"/>
                <a:ea typeface="Lato Black" panose="020F0502020204030203" pitchFamily="34" charset="0"/>
                <a:cs typeface="Times New Roman" panose="02020603050405020304" pitchFamily="18" charset="0"/>
              </a:rPr>
              <a:t>Relation between MRP &amp; Selling Price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984CC4-332A-0C9B-BD76-FCB52631D7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8941" y="4844232"/>
            <a:ext cx="11406380" cy="1551492"/>
          </a:xfrm>
        </p:spPr>
        <p:txBody>
          <a:bodyPr>
            <a:no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positive relationship  as MRP increases selling price also increases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relation is strong with 98% correlation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Majority of products are clustered below ₹200 MRP  confirming most items are daily budget essentials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1E2D71A-330D-BAFC-F980-F7C1C2F7ED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69080"/>
            <a:ext cx="10784541" cy="3815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77816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394448" y="51025"/>
            <a:ext cx="10165932" cy="967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 sz="2800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Category wise Selling Price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B25975-0B7A-BFF1-5B0E-B4A9102A0906}"/>
              </a:ext>
            </a:extLst>
          </p:cNvPr>
          <p:cNvSpPr txBox="1"/>
          <p:nvPr/>
        </p:nvSpPr>
        <p:spPr>
          <a:xfrm>
            <a:off x="394447" y="948690"/>
            <a:ext cx="6352345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Points at ₹0 represent out of stock items with no selling price recorded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Paneer selling price falls between ₹80 to ₹150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Milk selling price mostly falls between ₹10 to ₹100, with a few premium variants between ₹250 to ₹350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Chicken selling price ranges between ₹150 to ₹350, with some premium cuts at ₹450 and one outlier near ₹800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Vegetable selling price is mostly between ₹10 to ₹200, with some items between ₹200 to ₹250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Meat selling price is on the higher side, ranging between ₹500 to ₹650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Eggs selling price falls between ₹50 to ₹150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Fruits selling price ranges between ₹50 to ₹350, with one premium item near ₹650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B34FA8E-2C63-9B36-3625-1ECD94E7F1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6792" y="1263585"/>
            <a:ext cx="5319701" cy="4330829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280237" y="113201"/>
            <a:ext cx="9750295" cy="10505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 sz="2800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Average Delivery Charges By Platform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17F217-E8E7-1856-6B3C-ADDD080A83B1}"/>
              </a:ext>
            </a:extLst>
          </p:cNvPr>
          <p:cNvSpPr txBox="1"/>
          <p:nvPr/>
        </p:nvSpPr>
        <p:spPr>
          <a:xfrm>
            <a:off x="280237" y="1488453"/>
            <a:ext cx="655983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delivery charges for Blinkit is around ₹28 slightly higher than BigBasket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delivery charges for BigBasket is around ₹23 more affordable for customers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 though BigBasket applies late night delivery fees in some time slots, its overall average delivery charges are still lower than Blinkit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742BC7-C345-B7C2-48DA-80979D5330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4720" y="1163782"/>
            <a:ext cx="5507280" cy="4058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28200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498764" y="331738"/>
            <a:ext cx="10459912" cy="93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 sz="3200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Platform Wise Offer Percentage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9B8F6E-1AD6-102E-C3A6-C9FD4A1EAB48}"/>
              </a:ext>
            </a:extLst>
          </p:cNvPr>
          <p:cNvSpPr txBox="1"/>
          <p:nvPr/>
        </p:nvSpPr>
        <p:spPr>
          <a:xfrm>
            <a:off x="498764" y="1266458"/>
            <a:ext cx="5763491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Blinkit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Offer percentage mostly lies between 0% to 20% majority of products have low discounts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density is around 0% and 10%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products have offers between 25% to 40% but with very low density </a:t>
            </a:r>
          </a:p>
          <a:p>
            <a:pPr algn="just"/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Big Basket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Offer percentage ranges widely from 0% to 80% </a:t>
            </a:r>
          </a:p>
          <a:p>
            <a:pPr algn="just"/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Highest density is around 10 to 30%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Offers between 35% to 80%  with less density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58F808-C8FD-91E6-E0BA-3C945821C4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4568" y="1266458"/>
            <a:ext cx="5412785" cy="4246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6743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404420" y="316399"/>
            <a:ext cx="9964051" cy="927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 sz="3200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Period Wise Average Delivery Charges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2981CA-AD84-B258-09FB-72DCDC585DB4}"/>
              </a:ext>
            </a:extLst>
          </p:cNvPr>
          <p:cNvSpPr txBox="1"/>
          <p:nvPr/>
        </p:nvSpPr>
        <p:spPr>
          <a:xfrm>
            <a:off x="231700" y="1243762"/>
            <a:ext cx="71120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delivery charges are lowest in Afternoon at ₹23. Best time to order for cheaper delivery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Morning charges are ₹24. slightly higher than afternoon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Evening charges rise to ₹27. demand increases during evening hours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Night has the highest delivery charges at ₹29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clear pattern. Delivery charges increase from afternoon to night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D64D250-2D46-9055-BFDA-2CF44FDAFF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3600" y="1243762"/>
            <a:ext cx="4746700" cy="456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94629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33C32B16-B9C5-8E36-55BF-054F0B4A75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D377E625-B685-85CA-C68F-3F92A0C447A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4514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FF0000"/>
                </a:solidFill>
              </a:rPr>
              <a:t>EDA </a:t>
            </a:r>
            <a:r>
              <a:rPr lang="en-US" b="1" dirty="0">
                <a:solidFill>
                  <a:srgbClr val="FF0000"/>
                </a:solidFill>
                <a:sym typeface="Wingdings" panose="05000000000000000000" pitchFamily="2" charset="2"/>
              </a:rPr>
              <a:t> Multivariate Analysis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CF1347-DF02-AE77-D484-66E65BDE4A90}"/>
              </a:ext>
            </a:extLst>
          </p:cNvPr>
          <p:cNvSpPr txBox="1"/>
          <p:nvPr/>
        </p:nvSpPr>
        <p:spPr>
          <a:xfrm>
            <a:off x="440177" y="1986262"/>
            <a:ext cx="5510287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KPHB Colony, Blinkit charges around ₹27 and BigBasket charges around ₹25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Madhapur, Blinkit has the highest charges at ₹32 while BigBasket is only ₹23</a:t>
            </a:r>
          </a:p>
          <a:p>
            <a:pPr algn="just"/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Beeramguda, both platforms have similar charges around ₹24 to ₹23</a:t>
            </a:r>
          </a:p>
          <a:p>
            <a:pPr algn="just"/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E6A5C35-EBDE-92C4-565D-42174FF712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0640" y="1095605"/>
            <a:ext cx="5801360" cy="5035113"/>
          </a:xfrm>
          <a:prstGeom prst="rect">
            <a:avLst/>
          </a:prstGeom>
        </p:spPr>
      </p:pic>
      <p:sp>
        <p:nvSpPr>
          <p:cNvPr id="8" name="Google Shape;110;p4">
            <a:extLst>
              <a:ext uri="{FF2B5EF4-FFF2-40B4-BE49-F238E27FC236}">
                <a16:creationId xmlns:a16="http://schemas.microsoft.com/office/drawing/2014/main" id="{4EF7AD76-1015-75C2-A3CB-EC5EDF471F5A}"/>
              </a:ext>
            </a:extLst>
          </p:cNvPr>
          <p:cNvSpPr txBox="1">
            <a:spLocks/>
          </p:cNvSpPr>
          <p:nvPr/>
        </p:nvSpPr>
        <p:spPr>
          <a:xfrm>
            <a:off x="0" y="893785"/>
            <a:ext cx="6664960" cy="1134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rgbClr val="FF0000"/>
              </a:buClr>
              <a:buSzPts val="4400"/>
            </a:pPr>
            <a:r>
              <a:rPr lang="en-US" sz="2800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Platform Wise Average Delivery Charges by Location </a:t>
            </a:r>
          </a:p>
        </p:txBody>
      </p:sp>
    </p:spTree>
    <p:extLst>
      <p:ext uri="{BB962C8B-B14F-4D97-AF65-F5344CB8AC3E}">
        <p14:creationId xmlns:p14="http://schemas.microsoft.com/office/powerpoint/2010/main" val="25326778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076BCDAD-87AF-AB60-52FF-B73EA56F70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9901F01F-31F8-6992-8A5D-5E4A23BD610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7470" y="0"/>
            <a:ext cx="9987802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Clr>
                <a:srgbClr val="FF0000"/>
              </a:buClr>
              <a:buSzPts val="4400"/>
            </a:pPr>
            <a:r>
              <a:rPr lang="en-US" sz="3200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Platform Wise Average Delivery Changes Vs Delivery Time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6F2B21-BB0E-D3DE-757C-2C38D7EE5D34}"/>
              </a:ext>
            </a:extLst>
          </p:cNvPr>
          <p:cNvSpPr txBox="1"/>
          <p:nvPr/>
        </p:nvSpPr>
        <p:spPr>
          <a:xfrm>
            <a:off x="177470" y="1229436"/>
            <a:ext cx="6944168" cy="5847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Blinkit starts at around ₹27 for 5 minute delivery and BigBasket starts at around ₹21 for 5 minute delivery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delivery time between 10 to 15 minutes, Blinkit average charges are around ₹30 to ₹35 and BigBasket is around ₹23 to ₹26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delivery time between 20 to 25 minutes, both platforms show fluctuating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Maximum delivery time for Blinkit is around 25 minutes and for BigBasket is around 21 minutes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delivery time between 7 to 10 minutes, Blinkit and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bigbasket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charges gradually increase and then slightly decrease after 10 minutes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7CCFF87-EBEC-5010-1EEF-C709583718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8926" y="1325563"/>
            <a:ext cx="5373074" cy="4738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8923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076BCDAD-87AF-AB60-52FF-B73EA56F70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9901F01F-31F8-6992-8A5D-5E4A23BD610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0"/>
            <a:ext cx="11271398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Clr>
                <a:srgbClr val="FF0000"/>
              </a:buClr>
              <a:buSzPts val="4400"/>
            </a:pPr>
            <a:r>
              <a:rPr lang="en-US" sz="3200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Avg Offer Percentage Vs Avg Delivery Charges Vs Delivery Time with respective platform and category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2397E5-6A1F-BAAD-D9D9-FDB97A2D65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21833"/>
            <a:ext cx="12192000" cy="4508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611440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F68C67C3-86BA-0808-E1CE-28F32CB57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28CD76CA-6AB9-DBAB-CEA9-C5F5679AD59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8472" y="1825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Clr>
                <a:srgbClr val="FF0000"/>
              </a:buClr>
              <a:buSzPts val="4400"/>
            </a:pPr>
            <a:r>
              <a:rPr lang="en-US" sz="3200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Period Wise Out of Stock Count with respective Category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5D7AE6B-5253-4142-B5FD-1AD1503575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0787" y="1076960"/>
            <a:ext cx="5531213" cy="4704080"/>
          </a:xfrm>
          <a:prstGeom prst="rect">
            <a:avLst/>
          </a:prstGeom>
        </p:spPr>
      </p:pic>
      <p:sp>
        <p:nvSpPr>
          <p:cNvPr id="10" name="Rectangle 1">
            <a:extLst>
              <a:ext uri="{FF2B5EF4-FFF2-40B4-BE49-F238E27FC236}">
                <a16:creationId xmlns:a16="http://schemas.microsoft.com/office/drawing/2014/main" id="{0C5D40D3-564F-0767-B5EE-337B9FF915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756" y="941094"/>
            <a:ext cx="6213747" cy="57861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Vegetable has the highest out of stock across all periods Afternoon alone accounts for 26% of all out of stock cases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Chicken goes out of stock heavily in Afternoon at 5.6% and drops to 0% in Evening restocking likely happens between Afternoon and Evening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Fruit goes out of stock mostly in Afternoon at 3.6% and 0% in Evening similar restocking pattern as Chicken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Meat shows consistent out of stock across all periods  Morning 1.6%, Afternoon 3.2%, Evening 0.8% and Night 2.4%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Milk goes out of stock most at Night at 9.6%  highest night demand among all categories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Paneer highest out of stock is in Afternoon at 2.8% low overall compared to other categories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685967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3D35B484-8CD6-6A44-23C4-893B9BE92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3A8D679E-C413-7881-ADF8-4C79B6AA52F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8472" y="1825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Clr>
                <a:srgbClr val="FF0000"/>
              </a:buClr>
              <a:buSzPts val="4400"/>
            </a:pP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347034E1-D63E-EB77-14EB-2712AE2D92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89109" y="1183126"/>
            <a:ext cx="11213782" cy="38164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successfully analyzed price, offer, stock and delivery patterns of daily essential products across Blinkit and BigBasket at four different time periods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product data was effectively collected using Selenium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scraping four times daily 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BigBasket provides better discounts and lower delivery charges across most categories while Blinkit takes slightly more time and charges more for delivery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Vegetables have the highest out of stock rate especially in Afternoon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Evening is the best time to order across all categories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758431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752</TotalTime>
  <Words>1659</Words>
  <Application>Microsoft Office PowerPoint</Application>
  <PresentationFormat>Widescreen</PresentationFormat>
  <Paragraphs>225</Paragraphs>
  <Slides>32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9" baseType="lpstr">
      <vt:lpstr>Libre Baskerville</vt:lpstr>
      <vt:lpstr>Wingdings</vt:lpstr>
      <vt:lpstr>Lato Black</vt:lpstr>
      <vt:lpstr>Times New Roman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EDA  Bivariate Analysis</vt:lpstr>
      <vt:lpstr>Relation between MRP &amp; Selling Price</vt:lpstr>
      <vt:lpstr>Category wise Selling Price</vt:lpstr>
      <vt:lpstr>Average Delivery Charges By Platform</vt:lpstr>
      <vt:lpstr>Platform Wise Offer Percentage </vt:lpstr>
      <vt:lpstr>Period Wise Average Delivery Charges</vt:lpstr>
      <vt:lpstr>EDA  Multivariate Analysis</vt:lpstr>
      <vt:lpstr>Platform Wise Average Delivery Changes Vs Delivery Time</vt:lpstr>
      <vt:lpstr>Avg Offer Percentage Vs Avg Delivery Charges Vs Delivery Time with respective platform and category</vt:lpstr>
      <vt:lpstr>Period Wise Out of Stock Count with respective Category 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Raghu Ram Aduri</dc:creator>
  <cp:lastModifiedBy>aravindbhukya@outlook.com</cp:lastModifiedBy>
  <cp:revision>67</cp:revision>
  <dcterms:created xsi:type="dcterms:W3CDTF">2021-02-16T05:19:01Z</dcterms:created>
  <dcterms:modified xsi:type="dcterms:W3CDTF">2026-03-18T09:12:34Z</dcterms:modified>
</cp:coreProperties>
</file>